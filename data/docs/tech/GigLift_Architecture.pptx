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slide_bg_17726570909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GigLift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A855F7"/>
                </a:solidFill>
              </a:defRPr>
            </a:pPr>
            <a:r>
              <a:t>System Architecture &amp; Component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59436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CCCCDD"/>
                </a:solidFill>
              </a:defRPr>
            </a:pPr>
            <a:r>
              <a:t>GigLift — Technical Documentation  •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slide_bg_17726570909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High-Level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CCDD"/>
                </a:solidFill>
              </a:defRPr>
            </a:pPr>
            <a:r>
              <a:t>Three-tier architecture: Client → Next.js Server → External 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3200400" cy="201168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400" b="1">
                <a:solidFill>
                  <a:srgbClr val="00D4E6"/>
                </a:solidFill>
              </a:defRPr>
            </a:pPr>
            <a:r>
              <a:t>🖥  Client Tier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React 19 + Next.js 15 App Router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Clerk.js Auth (SSO, MFA)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Stripe.js Checkout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TailwindCSS / Vanilla CSS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Client-side state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00400" cy="201168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400" b="1">
                <a:solidFill>
                  <a:srgbClr val="00D4E6"/>
                </a:solidFill>
              </a:defRPr>
            </a:pPr>
            <a:r>
              <a:t>⚙️  Server Tier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Next.js API Routes (46 endpoints)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Clerk Middleware (auth + RBAC)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Token-bucket rate limiting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CSP + HSTS security headers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Vercel Edge Runtime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645920"/>
            <a:ext cx="3383280" cy="201168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400" b="1">
                <a:solidFill>
                  <a:srgbClr val="00D4E6"/>
                </a:solidFill>
              </a:defRPr>
            </a:pPr>
            <a:r>
              <a:t>☁️  External Services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Turso (LibSQL) — Database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Stripe — Billing &amp; Subscriptions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Clerk — Auth &amp; User Management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OpenAI — DALL·E 3 + GPT-4o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Resend — Transactional Email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0" y="2651760"/>
            <a:ext cx="731520" cy="0"/>
          </a:xfrm>
          <a:prstGeom prst="line">
            <a:avLst/>
          </a:prstGeom>
          <a:ln w="2540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89520" y="2651760"/>
            <a:ext cx="731520" cy="0"/>
          </a:xfrm>
          <a:prstGeom prst="line">
            <a:avLst/>
          </a:prstGeom>
          <a:ln w="2540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7200" y="4114800"/>
            <a:ext cx="11247120" cy="201168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600" b="1">
                <a:solidFill>
                  <a:srgbClr val="A855F7"/>
                </a:solidFill>
              </a:defRPr>
            </a:pPr>
            <a:r>
              <a:t>🤖  AI Agent Layer — 7 Autonomous Agents (Cron-driven)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Lead Scout  •  Outreach Writer  •  Social Hype  •  Content Planner  •  Engagement Bot  •  Booking Manager  •  Analytics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Agents run on Vercel Cron schedules, protected by CRON_SECRET. Each agent reads user data, performs AI analysis,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and writes results back to Turso. Uses SerpAPI for lead discovery, OpenAI for content generation, Resend for email delivery.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slide_bg_17726570909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Frontend Component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CCDD"/>
                </a:solidFill>
              </a:defRPr>
            </a:pPr>
            <a:r>
              <a:t>Next.js 15 App Router — Page 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2651760" cy="201168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300" b="1">
                <a:solidFill>
                  <a:srgbClr val="00D4E6"/>
                </a:solidFill>
              </a:defRPr>
            </a:pPr>
            <a:r>
              <a:t>/ (Landing)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Homepage, hero, features</a:t>
            </a:r>
            <a:br/>
            <a:r>
              <a:t>Pricing cards, CTA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463040"/>
            <a:ext cx="2651760" cy="201168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300" b="1">
                <a:solidFill>
                  <a:srgbClr val="00D4E6"/>
                </a:solidFill>
              </a:defRPr>
            </a:pPr>
            <a:r>
              <a:t>/dashboard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Event list, stats, calendar</a:t>
            </a:r>
            <a:br/>
            <a:r>
              <a:t>Skeleton loaders, quick-add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2651760" cy="201168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300" b="1">
                <a:solidFill>
                  <a:srgbClr val="00D4E6"/>
                </a:solidFill>
              </a:defRPr>
            </a:pPr>
            <a:r>
              <a:t>/leads/*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Lead pipeline, scan UI</a:t>
            </a:r>
            <a:br/>
            <a:r>
              <a:t>Seeds config, export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1463040"/>
            <a:ext cx="2651760" cy="201168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300" b="1">
                <a:solidFill>
                  <a:srgbClr val="00D4E6"/>
                </a:solidFill>
              </a:defRPr>
            </a:pPr>
            <a:r>
              <a:t>/social/*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Brand profile, post queue</a:t>
            </a:r>
            <a:br/>
            <a:r>
              <a:t>Content plans, analytics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840480"/>
            <a:ext cx="2651760" cy="201168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300" b="1">
                <a:solidFill>
                  <a:srgbClr val="00D4E6"/>
                </a:solidFill>
              </a:defRPr>
            </a:pPr>
            <a:r>
              <a:t>/flyer/*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AI flyer creator</a:t>
            </a:r>
            <a:br/>
            <a:r>
              <a:t>Dress code, DALL·E backgrounds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3840480"/>
            <a:ext cx="2651760" cy="201168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300" b="1">
                <a:solidFill>
                  <a:srgbClr val="00D4E6"/>
                </a:solidFill>
              </a:defRPr>
            </a:pPr>
            <a:r>
              <a:t>/epk/*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Electronic Press Kit builder</a:t>
            </a:r>
            <a:br/>
            <a:r>
              <a:t>Themes, sections, share URL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840480"/>
            <a:ext cx="2651760" cy="201168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300" b="1">
                <a:solidFill>
                  <a:srgbClr val="00D4E6"/>
                </a:solidFill>
              </a:defRPr>
            </a:pPr>
            <a:r>
              <a:t>/event/*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Event detail, booking</a:t>
            </a:r>
            <a:br/>
            <a:r>
              <a:t>Proposal, email, handoff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3840480"/>
            <a:ext cx="2651760" cy="201168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300" b="1">
                <a:solidFill>
                  <a:srgbClr val="00D4E6"/>
                </a:solidFill>
              </a:defRPr>
            </a:pPr>
            <a:r>
              <a:t>/admin/*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Platform stats, user mgmt</a:t>
            </a:r>
            <a:br/>
            <a:r>
              <a:t>Agent triggers, role admin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slide_bg_17726570909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API Route Architecture — 46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CCDD"/>
                </a:solidFill>
              </a:defRPr>
            </a:pPr>
            <a:r>
              <a:t>RESTful CRUD + Webhooks + Cron triggers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463040"/>
            <a:ext cx="2743200" cy="219456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300" b="1">
                <a:solidFill>
                  <a:srgbClr val="00D4E6"/>
                </a:solidFill>
              </a:defRPr>
            </a:pPr>
            <a:r>
              <a:t>Events (5)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/api/events</a:t>
            </a:r>
            <a:br/>
            <a:r>
              <a:t>/api/events/[id]</a:t>
            </a:r>
            <a:br/>
            <a:r>
              <a:t>GET, POST, PUT, DELETE</a:t>
            </a:r>
            <a:br/>
            <a:r>
              <a:t>Rate limited: 20/min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463040"/>
            <a:ext cx="2743200" cy="219456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300" b="1">
                <a:solidFill>
                  <a:srgbClr val="00D4E6"/>
                </a:solidFill>
              </a:defRPr>
            </a:pPr>
            <a:r>
              <a:t>Leads (8)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/api/leads</a:t>
            </a:r>
            <a:br/>
            <a:r>
              <a:t>/api/leads/[id]</a:t>
            </a:r>
            <a:br/>
            <a:r>
              <a:t>/api/leads/scan</a:t>
            </a:r>
            <a:br/>
            <a:r>
              <a:t>/api/leads/auto-scan</a:t>
            </a:r>
            <a:br/>
            <a:r>
              <a:t>/api/leads/outreach</a:t>
            </a:r>
            <a:br/>
            <a:r>
              <a:t>/api/leads/handoff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2743200" cy="219456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300" b="1">
                <a:solidFill>
                  <a:srgbClr val="00D4E6"/>
                </a:solidFill>
              </a:defRPr>
            </a:pPr>
            <a:r>
              <a:t>Social (7)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/api/social/brand</a:t>
            </a:r>
            <a:br/>
            <a:r>
              <a:t>/api/social/posts</a:t>
            </a:r>
            <a:br/>
            <a:r>
              <a:t>/api/social/plan</a:t>
            </a:r>
            <a:br/>
            <a:r>
              <a:t>/api/social/media</a:t>
            </a:r>
            <a:br/>
            <a:r>
              <a:t>/api/social/publish</a:t>
            </a:r>
            <a:br/>
            <a:r>
              <a:t>/api/social/analytics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1463040"/>
            <a:ext cx="2743200" cy="219456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300" b="1">
                <a:solidFill>
                  <a:srgbClr val="00D4E6"/>
                </a:solidFill>
              </a:defRPr>
            </a:pPr>
            <a:r>
              <a:t>Billing (3)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/api/checkout</a:t>
            </a:r>
            <a:br/>
            <a:r>
              <a:t>/api/billing-portal</a:t>
            </a:r>
            <a:br/>
            <a:r>
              <a:t>/api/webhooks/stripe</a:t>
            </a:r>
            <a:br/>
            <a:r>
              <a:t>Stripe webhook sig verify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931920"/>
            <a:ext cx="2743200" cy="219456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300" b="1">
                <a:solidFill>
                  <a:srgbClr val="00D4E6"/>
                </a:solidFill>
              </a:defRPr>
            </a:pPr>
            <a:r>
              <a:t>Email (4)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/api/emails</a:t>
            </a:r>
            <a:br/>
            <a:r>
              <a:t>/api/emails/send</a:t>
            </a:r>
            <a:br/>
            <a:r>
              <a:t>/api/emails/export</a:t>
            </a:r>
            <a:br/>
            <a:r>
              <a:t>/api/email-templates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3931920"/>
            <a:ext cx="2743200" cy="219456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300" b="1">
                <a:solidFill>
                  <a:srgbClr val="00D4E6"/>
                </a:solidFill>
              </a:defRPr>
            </a:pPr>
            <a:r>
              <a:t>Agents (6)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/api/agents/analytics</a:t>
            </a:r>
            <a:br/>
            <a:r>
              <a:t>/api/agents/community</a:t>
            </a:r>
            <a:br/>
            <a:r>
              <a:t>/api/agents/content-mktg</a:t>
            </a:r>
            <a:br/>
            <a:r>
              <a:t>/api/agents/growth-ops</a:t>
            </a:r>
            <a:br/>
            <a:r>
              <a:t>/api/agents/investor</a:t>
            </a:r>
            <a:br/>
            <a:r>
              <a:t>/api/agents/cust-success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931920"/>
            <a:ext cx="2743200" cy="219456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300" b="1">
                <a:solidFill>
                  <a:srgbClr val="00D4E6"/>
                </a:solidFill>
              </a:defRPr>
            </a:pPr>
            <a:r>
              <a:t>Profile (3)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/api/profile</a:t>
            </a:r>
            <a:br/>
            <a:r>
              <a:t>/api/profile/avatar</a:t>
            </a:r>
            <a:br/>
            <a:r>
              <a:t>/api/profile/mode</a:t>
            </a:r>
            <a:br/>
            <a:r>
              <a:t>Clerk user metadata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3931920"/>
            <a:ext cx="2743200" cy="219456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300" b="1">
                <a:solidFill>
                  <a:srgbClr val="00D4E6"/>
                </a:solidFill>
              </a:defRPr>
            </a:pPr>
            <a:r>
              <a:t>Admin (5)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/api/admin/stats</a:t>
            </a:r>
            <a:br/>
            <a:r>
              <a:t>/api/admin/users</a:t>
            </a:r>
            <a:br/>
            <a:r>
              <a:t>/api/admin/users/[id]</a:t>
            </a:r>
            <a:br/>
            <a:r>
              <a:t>/api/admin/agents</a:t>
            </a:r>
            <a:br/>
            <a:r>
              <a:t>/api/admin/fix-lead-modes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slide_bg_17726570909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External Service Integration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CCDD"/>
                </a:solidFill>
              </a:defRPr>
            </a:pPr>
            <a:r>
              <a:t>8 external APIs powering core functionality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463040"/>
            <a:ext cx="2743200" cy="219456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300" b="1">
                <a:solidFill>
                  <a:srgbClr val="00D4E6"/>
                </a:solidFill>
              </a:defRPr>
            </a:pPr>
            <a:r>
              <a:t>🔐 Clerk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Authentication &amp; Identity</a:t>
            </a:r>
            <a:br/>
            <a:r>
              <a:t>SSO, MFA, session tokens</a:t>
            </a:r>
            <a:br/>
            <a:r>
              <a:t>user metadata for roles/plans</a:t>
            </a:r>
            <a:br/>
            <a:r>
              <a:t>Webhook: user.created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463040"/>
            <a:ext cx="2743200" cy="219456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300" b="1">
                <a:solidFill>
                  <a:srgbClr val="00D4E6"/>
                </a:solidFill>
              </a:defRPr>
            </a:pPr>
            <a:r>
              <a:t>💳 Stripe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Billing &amp; Subscriptions</a:t>
            </a:r>
            <a:br/>
            <a:r>
              <a:t>Checkout sessions, portals</a:t>
            </a:r>
            <a:br/>
            <a:r>
              <a:t>Webhook signature verify</a:t>
            </a:r>
            <a:br/>
            <a:r>
              <a:t>4 plan tiers (Free→Agency)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2743200" cy="219456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300" b="1">
                <a:solidFill>
                  <a:srgbClr val="00D4E6"/>
                </a:solidFill>
              </a:defRPr>
            </a:pPr>
            <a:r>
              <a:t>🗄 Turso (LibSQL)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Primary Database</a:t>
            </a:r>
            <a:br/>
            <a:r>
              <a:t>13 multi-tenant tables</a:t>
            </a:r>
            <a:br/>
            <a:r>
              <a:t>Edge-compatible, auth token</a:t>
            </a:r>
            <a:br/>
            <a:r>
              <a:t>Parameterized queries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1463040"/>
            <a:ext cx="2743200" cy="219456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300" b="1">
                <a:solidFill>
                  <a:srgbClr val="00D4E6"/>
                </a:solidFill>
              </a:defRPr>
            </a:pPr>
            <a:r>
              <a:t>🤖 OpenAI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AI Content Generation</a:t>
            </a:r>
            <a:br/>
            <a:r>
              <a:t>GPT-4o: outreach, bios, plans</a:t>
            </a:r>
            <a:br/>
            <a:r>
              <a:t>DALL·E 3: flyer backgrounds</a:t>
            </a:r>
            <a:br/>
            <a:r>
              <a:t>Prompt sanitization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931920"/>
            <a:ext cx="2743200" cy="219456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300" b="1">
                <a:solidFill>
                  <a:srgbClr val="00D4E6"/>
                </a:solidFill>
              </a:defRPr>
            </a:pPr>
            <a:r>
              <a:t>🔍 SerpAPI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Lead Discovery</a:t>
            </a:r>
            <a:br/>
            <a:r>
              <a:t>Google search for venues</a:t>
            </a:r>
            <a:br/>
            <a:r>
              <a:t>Region+keyword queries</a:t>
            </a:r>
            <a:br/>
            <a:r>
              <a:t>Quota-limited by 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3931920"/>
            <a:ext cx="2743200" cy="219456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300" b="1">
                <a:solidFill>
                  <a:srgbClr val="00D4E6"/>
                </a:solidFill>
              </a:defRPr>
            </a:pPr>
            <a:r>
              <a:t>📧 Resend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Email Delivery</a:t>
            </a:r>
            <a:br/>
            <a:r>
              <a:t>Transactional + outreach</a:t>
            </a:r>
            <a:br/>
            <a:r>
              <a:t>Domain verification (DKIM)</a:t>
            </a:r>
            <a:br/>
            <a:r>
              <a:t>Sender: giglift.app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931920"/>
            <a:ext cx="2743200" cy="219456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300" b="1">
                <a:solidFill>
                  <a:srgbClr val="00D4E6"/>
                </a:solidFill>
              </a:defRPr>
            </a:pPr>
            <a:r>
              <a:t>📦 Vercel Blob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File Storage</a:t>
            </a:r>
            <a:br/>
            <a:r>
              <a:t>Media uploads (images/video)</a:t>
            </a:r>
            <a:br/>
            <a:r>
              <a:t>Public URLs, CDN-backed</a:t>
            </a:r>
            <a:br/>
            <a:r>
              <a:t>Magic-byte validation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3931920"/>
            <a:ext cx="2743200" cy="219456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300" b="1">
                <a:solidFill>
                  <a:srgbClr val="00D4E6"/>
                </a:solidFill>
              </a:defRPr>
            </a:pPr>
            <a:r>
              <a:t>📊 Plausible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Analytics</a:t>
            </a:r>
            <a:br/>
            <a:r>
              <a:t>Privacy-first page tracking</a:t>
            </a:r>
            <a:br/>
            <a:r>
              <a:t>No cookies, GDPR compliant</a:t>
            </a:r>
            <a:br/>
            <a:r>
              <a:t>Self-hosted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slide_bg_17726570909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Security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CCDD"/>
                </a:solidFill>
              </a:defRPr>
            </a:pPr>
            <a:r>
              <a:t>Multi-layered defense — A- security grade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463040"/>
            <a:ext cx="3657600" cy="219456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400" b="1">
                <a:solidFill>
                  <a:srgbClr val="00D4E6"/>
                </a:solidFill>
              </a:defRPr>
            </a:pPr>
            <a:r>
              <a:t>🛡 Network Layer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HSTS: max-age=31536000; preload</a:t>
            </a:r>
            <a:br/>
            <a:r>
              <a:t>CSP: strict allowlist policy</a:t>
            </a:r>
            <a:br/>
            <a:r>
              <a:t>X-Frame-Options: DENY</a:t>
            </a:r>
            <a:br/>
            <a:r>
              <a:t>X-Content-Type-Options: nosniff</a:t>
            </a:r>
            <a:br/>
            <a:r>
              <a:t>Referrer-Policy: strict-origin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1463040"/>
            <a:ext cx="3657600" cy="219456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400" b="1">
                <a:solidFill>
                  <a:srgbClr val="00D4E6"/>
                </a:solidFill>
              </a:defRPr>
            </a:pPr>
            <a:r>
              <a:t>🔒 Auth Layer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Clerk middleware on all routes</a:t>
            </a:r>
            <a:br/>
            <a:r>
              <a:t>Per-route userId verification</a:t>
            </a:r>
            <a:br/>
            <a:r>
              <a:t>Admin RBAC (publicMetadata.role)</a:t>
            </a:r>
            <a:br/>
            <a:r>
              <a:t>CRON_SECRET for schedulers</a:t>
            </a:r>
            <a:br/>
            <a:r>
              <a:t>13 public route allowlist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657600" cy="219456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400" b="1">
                <a:solidFill>
                  <a:srgbClr val="00D4E6"/>
                </a:solidFill>
              </a:defRPr>
            </a:pPr>
            <a:r>
              <a:t>⚡ Rate Limiting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Token-bucket algorithm</a:t>
            </a:r>
            <a:br/>
            <a:r>
              <a:t>Per-user, per-endpoint limits</a:t>
            </a:r>
            <a:br/>
            <a:r>
              <a:t>Events: 20/min, Leads: 15/min</a:t>
            </a:r>
            <a:br/>
            <a:r>
              <a:t>Media: 10/min, Billing: 5/min</a:t>
            </a:r>
            <a:br/>
            <a:r>
              <a:t>Deletion: 3-10/min caps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931920"/>
            <a:ext cx="3657600" cy="219456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400" b="1">
                <a:solidFill>
                  <a:srgbClr val="00D4E6"/>
                </a:solidFill>
              </a:defRPr>
            </a:pPr>
            <a:r>
              <a:t>🗃 Data Layer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Multi-tenant row isolation</a:t>
            </a:r>
            <a:br/>
            <a:r>
              <a:t>All queries: WHERE user_id = ?</a:t>
            </a:r>
            <a:br/>
            <a:r>
              <a:t>Parameterized SQL (no injection)</a:t>
            </a:r>
            <a:br/>
            <a:r>
              <a:t>Mass-assignment protection</a:t>
            </a:r>
            <a:br/>
            <a:r>
              <a:t>Input validation + field caps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3931920"/>
            <a:ext cx="3657600" cy="219456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400" b="1">
                <a:solidFill>
                  <a:srgbClr val="00D4E6"/>
                </a:solidFill>
              </a:defRPr>
            </a:pPr>
            <a:r>
              <a:t>📁 Upload Security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MIME type allowlist (12 types)</a:t>
            </a:r>
            <a:br/>
            <a:r>
              <a:t>Magic-byte validation</a:t>
            </a:r>
            <a:br/>
            <a:r>
              <a:t>Filename sanitization</a:t>
            </a:r>
            <a:br/>
            <a:r>
              <a:t>10MB images / 50MB video</a:t>
            </a:r>
            <a:br/>
            <a:r>
              <a:t>Path traversal prevention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931920"/>
            <a:ext cx="3657600" cy="219456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400" b="1">
                <a:solidFill>
                  <a:srgbClr val="00D4E6"/>
                </a:solidFill>
              </a:defRPr>
            </a:pPr>
            <a:r>
              <a:t>🔑 Secrets Mgmt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Environment variables only</a:t>
            </a:r>
            <a:br/>
            <a:r>
              <a:t>No client-exposed secrets</a:t>
            </a:r>
            <a:br/>
            <a:r>
              <a:t>Stripe webhook sig verify</a:t>
            </a:r>
            <a:br/>
            <a:r>
              <a:t>300s replay attack window</a:t>
            </a:r>
            <a:br/>
            <a:r>
              <a:t>Safe error responses in prod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