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D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yleguide_bg_17727513081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FBCFF"/>
                </a:solidFill>
                <a:latin typeface="Inter"/>
              </a:defRPr>
            </a:pPr>
            <a:r>
              <a:t>🎨 DESIGN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Inter"/>
              </a:defRPr>
            </a:pPr>
            <a:r>
              <a:t>GigLift Style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C8DC"/>
                </a:solidFill>
                <a:latin typeface="Inter"/>
              </a:defRPr>
            </a:pPr>
            <a:r>
              <a:t>Material Design 3 — Dark Theme — Performance-Optimized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C755"/>
                </a:solidFill>
                <a:latin typeface="Inter"/>
              </a:defRPr>
            </a:pPr>
            <a:r>
              <a:t>All new projects and features must adhere to this design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8CA5"/>
                </a:solidFill>
                <a:latin typeface="Inter"/>
              </a:defRPr>
            </a:pPr>
            <a:r>
              <a:t>GigLift Engineering  •  v1.0  •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D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yleguide_bg_17727513081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t>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BCFF"/>
                </a:solidFill>
                <a:latin typeface="Inter"/>
              </a:defRPr>
            </a:pPr>
            <a:r>
              <a:t>The philosophical foundation behind every UI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FBCFF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3441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FBCFF"/>
                </a:solidFill>
                <a:latin typeface="Inter"/>
              </a:defRPr>
            </a:pPr>
            <a:r>
              <a:t>Dark-First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34416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Inter"/>
              </a:defRPr>
            </a:pPr>
            <a:r>
              <a:t>Dark theme is the primary experience. All colors, contrasts, and elevations are designed for dark surfaces. Never design for light-mode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DD8E7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8928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DD8E7"/>
                </a:solidFill>
                <a:latin typeface="Inter"/>
              </a:defRPr>
            </a:pPr>
            <a:r>
              <a:t>Material Design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89280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Inter"/>
              </a:defRPr>
            </a:pPr>
            <a:r>
              <a:t>Follow Google's M3 spec for tonal surfaces, dynamic color, and elevation. Use M3 shape tokens for consistency.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C755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441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C755"/>
                </a:solidFill>
                <a:latin typeface="Inter"/>
              </a:defRPr>
            </a:pPr>
            <a:r>
              <a:t>Performance is 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4144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Inter"/>
              </a:defRPr>
            </a:pPr>
            <a:r>
              <a:t>Every visual choice must consider rendering cost. Prefer CSS transitions over JS animation. Minimize layout shifts. Respect animation budgets.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718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1D994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9900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1D994"/>
                </a:solidFill>
                <a:latin typeface="Inter"/>
              </a:defRPr>
            </a:pPr>
            <a:r>
              <a:t>Accessible by Default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99008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Inter"/>
              </a:defRPr>
            </a:pPr>
            <a:r>
              <a:t>WCAG 2.1 AA minimum. 4.5:1 contrast ratio for text. 44px touch targets. Semantic HTML. Keyboard navigable.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204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5387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Inter"/>
              </a:defRPr>
            </a:pPr>
            <a:r>
              <a:t>Progressive Disclosure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538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Inter"/>
              </a:defRPr>
            </a:pPr>
            <a:r>
              <a:t>Show only what's needed. Use cards, tabs, and expandable sections to reduce cognitive load. Empty states should guide users to 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D4BF"/>
                </a:solidFill>
                <a:latin typeface="Inter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0873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Inter"/>
              </a:defRPr>
            </a:pPr>
            <a:r>
              <a:t>Responsive &amp; Fluid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08736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Inter"/>
              </a:defRPr>
            </a:pPr>
            <a:r>
              <a:t>Mobile-first design. Layouts must work at 320px–1920px. Use CSS Grid with auto-fit for adaptive grids. No horizontal scrolling.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120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8CA5"/>
                </a:solidFill>
                <a:latin typeface="Inter"/>
              </a:defRPr>
            </a:pPr>
            <a:r>
              <a:t>These principles apply to ALL new projects, not just GigLift. When in doubt, refer back to these six pillars.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D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yleguide_bg_17727513081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t>Color System — Surfaces &amp; Primary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BCFF"/>
                </a:solidFill>
                <a:latin typeface="Inter"/>
              </a:defRPr>
            </a:pPr>
            <a:r>
              <a:t>M3 tonal surface system with purple primary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DD8E7"/>
                </a:solidFill>
                <a:latin typeface="Inter"/>
              </a:defRPr>
            </a:pPr>
            <a:r>
              <a:t>TONAL SURFACES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822960" cy="822960"/>
          </a:xfrm>
          <a:prstGeom prst="rect">
            <a:avLst/>
          </a:prstGeom>
          <a:solidFill>
            <a:srgbClr val="0F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8C8DC"/>
                </a:solidFill>
                <a:latin typeface="Inter"/>
              </a:defRPr>
            </a:pPr>
            <a:r>
              <a:t>Surface Dim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8CA5"/>
                </a:solidFill>
                <a:latin typeface="Inter"/>
              </a:defRPr>
            </a:pPr>
            <a:r>
              <a:t>#0f0d13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645920"/>
            <a:ext cx="822960" cy="822960"/>
          </a:xfrm>
          <a:prstGeom prst="rect">
            <a:avLst/>
          </a:prstGeom>
          <a:solidFill>
            <a:srgbClr val="14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25146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8C8DC"/>
                </a:solidFill>
                <a:latin typeface="Inter"/>
              </a:defRPr>
            </a:pPr>
            <a:r>
              <a:t>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69748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8CA5"/>
                </a:solidFill>
                <a:latin typeface="Inter"/>
              </a:defRPr>
            </a:pPr>
            <a:r>
              <a:t>#141218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1645920"/>
            <a:ext cx="822960" cy="822960"/>
          </a:xfrm>
          <a:prstGeom prst="rect">
            <a:avLst/>
          </a:prstGeom>
          <a:solidFill>
            <a:srgbClr val="1E1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5146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8C8DC"/>
                </a:solidFill>
                <a:latin typeface="Inter"/>
              </a:defRPr>
            </a:pPr>
            <a:r>
              <a:t>Surface Bright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69748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8CA5"/>
                </a:solidFill>
                <a:latin typeface="Inter"/>
              </a:defRPr>
            </a:pPr>
            <a:r>
              <a:t>#1e1b20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1645920"/>
            <a:ext cx="822960" cy="822960"/>
          </a:xfrm>
          <a:prstGeom prst="rect">
            <a:avLst/>
          </a:prstGeom>
          <a:solidFill>
            <a:srgbClr val="17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25146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8C8DC"/>
                </a:solidFill>
                <a:latin typeface="Inter"/>
              </a:defRPr>
            </a:pPr>
            <a:r>
              <a:t>Container 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69748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8CA5"/>
                </a:solidFill>
                <a:latin typeface="Inter"/>
              </a:defRPr>
            </a:pPr>
            <a:r>
              <a:t>#171520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645920"/>
            <a:ext cx="822960" cy="822960"/>
          </a:xfrm>
          <a:prstGeom prst="rect">
            <a:avLst/>
          </a:prstGeom>
          <a:solidFill>
            <a:srgbClr val="1D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5146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8C8DC"/>
                </a:solidFill>
                <a:latin typeface="Inter"/>
              </a:defRPr>
            </a:pPr>
            <a:r>
              <a:t>Container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69748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8CA5"/>
                </a:solidFill>
                <a:latin typeface="Inter"/>
              </a:defRPr>
            </a:pPr>
            <a:r>
              <a:t>#1d1b23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1645920"/>
            <a:ext cx="822960" cy="822960"/>
          </a:xfrm>
          <a:prstGeom prst="rect">
            <a:avLst/>
          </a:prstGeom>
          <a:solidFill>
            <a:srgbClr val="26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25146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8C8DC"/>
                </a:solidFill>
                <a:latin typeface="Inter"/>
              </a:defRPr>
            </a:pPr>
            <a:r>
              <a:t>Container 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69748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8CA5"/>
                </a:solidFill>
                <a:latin typeface="Inter"/>
              </a:defRPr>
            </a:pPr>
            <a:r>
              <a:t>#262430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1645920"/>
            <a:ext cx="822960" cy="822960"/>
          </a:xfrm>
          <a:prstGeom prst="rect">
            <a:avLst/>
          </a:prstGeom>
          <a:solidFill>
            <a:srgbClr val="2F2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25146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8C8DC"/>
                </a:solidFill>
                <a:latin typeface="Inter"/>
              </a:defRPr>
            </a:pPr>
            <a:r>
              <a:t>Container Highest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269748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8CA5"/>
                </a:solidFill>
                <a:latin typeface="Inter"/>
              </a:defRPr>
            </a:pPr>
            <a:r>
              <a:t>#2f2d38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32720" y="1645920"/>
            <a:ext cx="822960" cy="822960"/>
          </a:xfrm>
          <a:prstGeom prst="rect">
            <a:avLst/>
          </a:prstGeom>
          <a:solidFill>
            <a:srgbClr val="E6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0" y="25146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8C8DC"/>
                </a:solidFill>
                <a:latin typeface="Inter"/>
              </a:defRPr>
            </a:pPr>
            <a:r>
              <a:t>On-Surface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269748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8CA5"/>
                </a:solidFill>
                <a:latin typeface="Inter"/>
              </a:defRPr>
            </a:pPr>
            <a:r>
              <a:t>#e6e1e5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FBCFF"/>
                </a:solidFill>
                <a:latin typeface="Inter"/>
              </a:defRPr>
            </a:pPr>
            <a:r>
              <a:t>PRIMARY — PURPLE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383280"/>
            <a:ext cx="822960" cy="822960"/>
          </a:xfrm>
          <a:prstGeom prst="rect">
            <a:avLst/>
          </a:prstGeom>
          <a:solidFill>
            <a:srgbClr val="CF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2519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8C8DC"/>
                </a:solidFill>
                <a:latin typeface="Inter"/>
              </a:defRPr>
            </a:pPr>
            <a:r>
              <a:t>Primary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43484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8CA5"/>
                </a:solidFill>
                <a:latin typeface="Inter"/>
              </a:defRPr>
            </a:pPr>
            <a:r>
              <a:t>#cfbcff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03120" y="3383280"/>
            <a:ext cx="822960" cy="822960"/>
          </a:xfrm>
          <a:prstGeom prst="rect">
            <a:avLst/>
          </a:prstGeom>
          <a:solidFill>
            <a:srgbClr val="381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0" y="42519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8C8DC"/>
                </a:solidFill>
                <a:latin typeface="Inter"/>
              </a:defRPr>
            </a:pPr>
            <a:r>
              <a:t>On Primary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20" y="443484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8CA5"/>
                </a:solidFill>
                <a:latin typeface="Inter"/>
              </a:defRPr>
            </a:pPr>
            <a:r>
              <a:t>#381e72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3383280"/>
            <a:ext cx="822960" cy="822960"/>
          </a:xfrm>
          <a:prstGeom prst="rect">
            <a:avLst/>
          </a:prstGeom>
          <a:solidFill>
            <a:srgbClr val="4F3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0" y="42519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8C8DC"/>
                </a:solidFill>
                <a:latin typeface="Inter"/>
              </a:defRPr>
            </a:pPr>
            <a:r>
              <a:t>Primary Container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43484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8CA5"/>
                </a:solidFill>
                <a:latin typeface="Inter"/>
              </a:defRPr>
            </a:pPr>
            <a:r>
              <a:t>#4f378b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3383280"/>
            <a:ext cx="822960" cy="822960"/>
          </a:xfrm>
          <a:prstGeom prst="rect">
            <a:avLst/>
          </a:prstGeom>
          <a:solidFill>
            <a:srgbClr val="E9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46320" y="42519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8C8DC"/>
                </a:solidFill>
                <a:latin typeface="Inter"/>
              </a:defRPr>
            </a:pPr>
            <a:r>
              <a:t>On Primary Cont.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443484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8CA5"/>
                </a:solidFill>
                <a:latin typeface="Inter"/>
              </a:defRPr>
            </a:pPr>
            <a:r>
              <a:t>#e9ddff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3383280"/>
            <a:ext cx="822960" cy="822960"/>
          </a:xfrm>
          <a:prstGeom prst="rect">
            <a:avLst/>
          </a:prstGeom>
          <a:solidFill>
            <a:srgbClr val="675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42519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8C8DC"/>
                </a:solidFill>
                <a:latin typeface="Inter"/>
              </a:defRPr>
            </a:pPr>
            <a:r>
              <a:t>Inverse Primary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443484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8CA5"/>
                </a:solidFill>
                <a:latin typeface="Inter"/>
              </a:defRPr>
            </a:pPr>
            <a:r>
              <a:t>#6750a4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4709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DD8E7"/>
                </a:solidFill>
                <a:latin typeface="Inter"/>
              </a:defRPr>
            </a:pPr>
            <a:r>
              <a:t>SECONDARY &amp; TERTIARY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5074920"/>
            <a:ext cx="822960" cy="822960"/>
          </a:xfrm>
          <a:prstGeom prst="rect">
            <a:avLst/>
          </a:prstGeom>
          <a:solidFill>
            <a:srgbClr val="CCC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9436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8C8DC"/>
                </a:solidFill>
                <a:latin typeface="Inter"/>
              </a:defRPr>
            </a:pPr>
            <a:r>
              <a:t>Secondary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612648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8CA5"/>
                </a:solidFill>
                <a:latin typeface="Inter"/>
              </a:defRPr>
            </a:pPr>
            <a:r>
              <a:t>#ccc2dc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03120" y="5074920"/>
            <a:ext cx="822960" cy="822960"/>
          </a:xfrm>
          <a:prstGeom prst="rect">
            <a:avLst/>
          </a:prstGeom>
          <a:solidFill>
            <a:srgbClr val="33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0" y="59436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8C8DC"/>
                </a:solidFill>
                <a:latin typeface="Inter"/>
              </a:defRPr>
            </a:pPr>
            <a:r>
              <a:t>On Secondary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03120" y="612648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8CA5"/>
                </a:solidFill>
                <a:latin typeface="Inter"/>
              </a:defRPr>
            </a:pPr>
            <a:r>
              <a:t>#332d41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474720" y="5074920"/>
            <a:ext cx="822960" cy="822960"/>
          </a:xfrm>
          <a:prstGeom prst="rect">
            <a:avLst/>
          </a:prstGeom>
          <a:solidFill>
            <a:srgbClr val="7DD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74720" y="59436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8C8DC"/>
                </a:solidFill>
                <a:latin typeface="Inter"/>
              </a:defRPr>
            </a:pPr>
            <a:r>
              <a:t>Tertiary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74720" y="612648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8CA5"/>
                </a:solidFill>
                <a:latin typeface="Inter"/>
              </a:defRPr>
            </a:pPr>
            <a:r>
              <a:t>#7dd8e7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846320" y="5074920"/>
            <a:ext cx="822960" cy="822960"/>
          </a:xfrm>
          <a:prstGeom prst="rect">
            <a:avLst/>
          </a:prstGeom>
          <a:solidFill>
            <a:srgbClr val="003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846320" y="59436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8C8DC"/>
                </a:solidFill>
                <a:latin typeface="Inter"/>
              </a:defRPr>
            </a:pPr>
            <a:r>
              <a:t>On Tertiary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46320" y="612648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8CA5"/>
                </a:solidFill>
                <a:latin typeface="Inter"/>
              </a:defRPr>
            </a:pPr>
            <a:r>
              <a:t>#003d48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17920" y="5074920"/>
            <a:ext cx="822960" cy="822960"/>
          </a:xfrm>
          <a:prstGeom prst="rect">
            <a:avLst/>
          </a:prstGeom>
          <a:solidFill>
            <a:srgbClr val="1D5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17920" y="59436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8C8DC"/>
                </a:solidFill>
                <a:latin typeface="Inter"/>
              </a:defRPr>
            </a:pPr>
            <a:r>
              <a:t>Tertiary Container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7920" y="6126480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C8CA5"/>
                </a:solidFill>
                <a:latin typeface="Inter"/>
              </a:defRPr>
            </a:pPr>
            <a:r>
              <a:t>#1d5b68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63840" y="1280160"/>
            <a:ext cx="3749039" cy="4754880"/>
          </a:xfrm>
          <a:prstGeom prst="rect">
            <a:avLst/>
          </a:prstGeom>
          <a:solidFill>
            <a:srgbClr val="141218"/>
          </a:solidFill>
          <a:ln w="12700">
            <a:solidFill>
              <a:srgbClr val="23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46720" y="1389888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BCFF"/>
                </a:solidFill>
                <a:latin typeface="Inter"/>
              </a:defRPr>
            </a:pPr>
            <a:r>
              <a:t>USAGE RULES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92440" y="1719072"/>
            <a:ext cx="33375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Backgrounds: Surface Dim for page, Container for cards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92440" y="1938528"/>
            <a:ext cx="33375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Text: On-Surface (#e6e1e5) for primary text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92440" y="2157984"/>
            <a:ext cx="33375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Muted text: md-outline (#79747e)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92440" y="2377440"/>
            <a:ext cx="33375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Borders: md-outline-variant (#49454f)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92440" y="2670048"/>
            <a:ext cx="33375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Never use pure black (#000) backgrounds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92440" y="2889504"/>
            <a:ext cx="33375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Never use pure white (#fff) for text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92440" y="3108960"/>
            <a:ext cx="33375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Always maintain M3 tonal hierarchy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92440" y="3401568"/>
            <a:ext cx="33375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CSS Variables: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92440" y="3621024"/>
            <a:ext cx="33375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var(--bg-primary) → page background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92440" y="3840480"/>
            <a:ext cx="33375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var(--bg-card) → card background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92440" y="4059936"/>
            <a:ext cx="33375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var(--text-primary) → primary text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92440" y="4279392"/>
            <a:ext cx="33375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var(--text-muted) → secondary text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92440" y="4498848"/>
            <a:ext cx="33375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var(--border) → borders &amp; dividers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D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yleguide_bg_17727513081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t>Color System — Semantic &amp; Accent Colors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BCFF"/>
                </a:solidFill>
                <a:latin typeface="Inter"/>
              </a:defRPr>
            </a:pPr>
            <a:r>
              <a:t>Role-based colors with dim variants for backgrounds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640080" cy="640080"/>
          </a:xfrm>
          <a:prstGeom prst="rect">
            <a:avLst/>
          </a:prstGeom>
          <a:solidFill>
            <a:srgbClr val="CF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325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FBCFF"/>
                </a:solidFill>
                <a:latin typeface="Inter"/>
              </a:defRPr>
            </a:pPr>
            <a:r>
              <a:t>Purple (Primary)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544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A5"/>
                </a:solidFill>
                <a:latin typeface="Inter"/>
              </a:defRPr>
            </a:pPr>
            <a:r>
              <a:t>#cfbcff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Actions, links, brand, active states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640080" cy="640080"/>
          </a:xfrm>
          <a:prstGeom prst="rect">
            <a:avLst/>
          </a:prstGeom>
          <a:solidFill>
            <a:srgbClr val="7DD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103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DD8E7"/>
                </a:solidFill>
                <a:latin typeface="Inter"/>
              </a:defRPr>
            </a:pPr>
            <a:r>
              <a:t>Cyan (Tertiary)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A5"/>
                </a:solidFill>
                <a:latin typeface="Inter"/>
              </a:defRPr>
            </a:pPr>
            <a:r>
              <a:t>#7dd8e7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Secondary actions, data viz, info states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834640"/>
            <a:ext cx="640080" cy="640080"/>
          </a:xfrm>
          <a:prstGeom prst="rect">
            <a:avLst/>
          </a:prstGeom>
          <a:solidFill>
            <a:srgbClr val="81D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28803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1D994"/>
                </a:solidFill>
                <a:latin typeface="Inter"/>
              </a:defRPr>
            </a:pPr>
            <a:r>
              <a:t>Green (Success)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1089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A5"/>
                </a:solidFill>
                <a:latin typeface="Inter"/>
              </a:defRPr>
            </a:pPr>
            <a:r>
              <a:t>#81d994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Confirmations, positive stats, completed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611880"/>
            <a:ext cx="640080" cy="640080"/>
          </a:xfrm>
          <a:prstGeom prst="rect">
            <a:avLst/>
          </a:prstGeom>
          <a:solidFill>
            <a:srgbClr val="F0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3657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C755"/>
                </a:solidFill>
                <a:latin typeface="Inter"/>
              </a:defRPr>
            </a:pPr>
            <a:r>
              <a:t>Amber (Warning)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8862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A5"/>
                </a:solidFill>
                <a:latin typeface="Inter"/>
              </a:defRPr>
            </a:pPr>
            <a:r>
              <a:t>#f0c755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703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Warnings, pending states, attention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389120"/>
            <a:ext cx="640080" cy="640080"/>
          </a:xfrm>
          <a:prstGeom prst="rect">
            <a:avLst/>
          </a:prstGeom>
          <a:solidFill>
            <a:srgbClr val="FFB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4434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B4AB"/>
                </a:solidFill>
                <a:latin typeface="Inter"/>
              </a:defRPr>
            </a:pPr>
            <a:r>
              <a:t>Red (Error)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6634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A5"/>
                </a:solidFill>
                <a:latin typeface="Inter"/>
              </a:defRPr>
            </a:pPr>
            <a:r>
              <a:t>#ffb4ab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Errors, destructive actions, critical alerts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1280160"/>
            <a:ext cx="3840480" cy="4754880"/>
          </a:xfrm>
          <a:prstGeom prst="rect">
            <a:avLst/>
          </a:prstGeom>
          <a:solidFill>
            <a:srgbClr val="141218"/>
          </a:solidFill>
          <a:ln w="12700">
            <a:solidFill>
              <a:srgbClr val="23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0" y="138988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DD8E7"/>
                </a:solidFill>
                <a:latin typeface="Inter"/>
              </a:defRPr>
            </a:pPr>
            <a:r>
              <a:t>MODE-SPECIFIC ACCENTS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1719072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🎵 Performer Mode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1938528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Primary: #a855f7 (vivid purple)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2157984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Glow: rgba(168,85,247,0.4)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2450592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📚 Instructor Mode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2670048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Primary: #38bdf8 (sky blue)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2889504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Glow: rgba(56,189,248,0.4)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3182112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🎙️ Studio Mode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3401568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Primary: #f97316 (orange)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3621024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Glow: rgba(249,115,22,0.4)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3913632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🚐 Touring Mode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4133088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Primary: #10b981 (emerald)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4352544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Glow: rgba(16,185,129,0.4)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4645152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→ Mode colors override --accent-purple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4864608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→ Use ModeConfig.color / glow / borderColor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303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C8CA5"/>
                </a:solidFill>
                <a:latin typeface="Inter"/>
              </a:defRPr>
            </a:pPr>
            <a:r>
              <a:t>DIM VARIANTS — Always pair bright colors with their dim backgrounds for visual hierarchy: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62356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A5"/>
                </a:solidFill>
                <a:latin typeface="Inter"/>
              </a:defRPr>
            </a:pPr>
            <a:r>
              <a:t>--accent-purple-dim: rgba(207,188,255,0.12)  |  --accent-cyan-dim: rgba(125,216,231,0.10)  |  --accent-green-dim: ...container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D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yleguide_bg_17727513081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t>Typography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BCFF"/>
                </a:solidFill>
                <a:latin typeface="Inter"/>
              </a:defRPr>
            </a:pPr>
            <a:r>
              <a:t>Inter for UI, Roboto for data — weight communicates hierarchy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5029200"/>
          </a:xfrm>
          <a:prstGeom prst="rect">
            <a:avLst/>
          </a:prstGeom>
          <a:solidFill>
            <a:srgbClr val="141218"/>
          </a:solidFill>
          <a:ln w="12700">
            <a:solidFill>
              <a:srgbClr val="23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BCFF"/>
                </a:solidFill>
                <a:latin typeface="Inter"/>
              </a:defRPr>
            </a:pPr>
            <a:r>
              <a:t>TYPE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FBCFF"/>
                </a:solidFill>
                <a:latin typeface="Inter"/>
              </a:defRPr>
            </a:pPr>
            <a:r>
              <a:t>Display Large — 40px 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Inter"/>
              </a:defRPr>
            </a:pPr>
            <a:r>
              <a:t>Display Medium — 32px Bold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Inter"/>
              </a:defRPr>
            </a:pPr>
            <a:r>
              <a:t>Title Large — 24px Bold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Inter"/>
              </a:defRPr>
            </a:pPr>
            <a:r>
              <a:t>Title Medium — 20px Semi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C8DC"/>
                </a:solidFill>
                <a:latin typeface="Inter"/>
              </a:defRPr>
            </a:pPr>
            <a:r>
              <a:t>Body Large — 16px Regular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Inter"/>
              </a:defRPr>
            </a:pPr>
            <a:r>
              <a:t>Body Medium — 14px Regular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233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A5"/>
                </a:solidFill>
                <a:latin typeface="Inter"/>
              </a:defRPr>
            </a:pPr>
            <a:r>
              <a:t>Body Small — 12px Regular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89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8CA5"/>
                </a:solidFill>
                <a:latin typeface="Inter"/>
              </a:defRPr>
            </a:pPr>
            <a:r>
              <a:t>LABEL — 11px Medium Caps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303520" cy="2286000"/>
          </a:xfrm>
          <a:prstGeom prst="rect">
            <a:avLst/>
          </a:prstGeom>
          <a:solidFill>
            <a:srgbClr val="141218"/>
          </a:solidFill>
          <a:ln w="12700">
            <a:solidFill>
              <a:srgbClr val="23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898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DD8E7"/>
                </a:solidFill>
                <a:latin typeface="Inter"/>
              </a:defRPr>
            </a:pPr>
            <a:r>
              <a:t>FONT FAMILIES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71907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Primary: Inter (UI text, headings, labels)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Secondary: Roboto (data tables, metrics, forms)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15798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Monospace: Consolas / JetBrains Mono (code blocks)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45059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Load via Google Fonts with display=swap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67004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Weights: 300 (Light), 400, 500, 600, 700, 800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88950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Subset to latin to reduce bundle size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840480"/>
            <a:ext cx="5303520" cy="2468880"/>
          </a:xfrm>
          <a:prstGeom prst="rect">
            <a:avLst/>
          </a:prstGeom>
          <a:solidFill>
            <a:srgbClr val="141218"/>
          </a:solidFill>
          <a:ln w="12700">
            <a:solidFill>
              <a:srgbClr val="23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50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C755"/>
                </a:solidFill>
                <a:latin typeface="Inter"/>
              </a:defRPr>
            </a:pPr>
            <a:r>
              <a:t>TYPOGRAPHY 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27939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Line height: 1.5 for body, 1.2 for headings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49884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Letter spacing: -0.02em for large text, 0.5px for labels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71830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Max line width: 72ch for readability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01091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❌ Never use browser default fonts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23036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❌ Never use font-size &lt; 11px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44982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❌ Never use more than 3 weights per page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669280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❌ Never center-align body paragraphs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96188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✅ Use font-weight for hierarchy, not font-size alone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618134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✅ Uppercase only for labels and badges — never headings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D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yleguide_bg_17727513081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t>Spacing &amp;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BCFF"/>
                </a:solidFill>
                <a:latin typeface="Inter"/>
              </a:defRPr>
            </a:pPr>
            <a:r>
              <a:t>4px grid — all spacing values are multiples of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2743200"/>
          </a:xfrm>
          <a:prstGeom prst="rect">
            <a:avLst/>
          </a:prstGeom>
          <a:solidFill>
            <a:srgbClr val="141218"/>
          </a:solidFill>
          <a:ln w="12700">
            <a:solidFill>
              <a:srgbClr val="23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D994"/>
                </a:solidFill>
                <a:latin typeface="Inter"/>
              </a:defRPr>
            </a:pPr>
            <a:r>
              <a:t>SPACING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4px — spacing-1 — micro gaps (icon-label)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8px — spacing-2 — tight gaps (badge padding)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5798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12px — spacing-3 — default inner padding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16px — spacing-4 — card internal padding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96896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20px — spacing-5 — section gaps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1635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24px — spacing-6 — card padding (standard)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3580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32px — spacing-8 — section padding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5526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48px — spacing-12 — major section breaks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74720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64px — spacing-16 — page-level vertical rhythm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6732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→ All custom values must land on the 4px grid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280160"/>
            <a:ext cx="5303520" cy="2743200"/>
          </a:xfrm>
          <a:prstGeom prst="rect">
            <a:avLst/>
          </a:prstGeom>
          <a:solidFill>
            <a:srgbClr val="141218"/>
          </a:solidFill>
          <a:ln w="12700">
            <a:solidFill>
              <a:srgbClr val="23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3898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DD8E7"/>
                </a:solidFill>
                <a:latin typeface="Inter"/>
              </a:defRPr>
            </a:pPr>
            <a:r>
              <a:t>LAYOUT GRID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71907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Page max-width: 1200px (centered)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93852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Page padding: 24px (mobile: 16px)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15798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Card gap: 16px (12px mobile)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45059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Grid pattern: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67004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grid-template-columns: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88950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repeat(auto-fit, minmax(200px, 1fr))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18211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Breakpoints: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40156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Mobile: &lt; 768px (1 column, stacked)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62102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Tablet: 768–1024px (2 columns)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840480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Desktop: &gt; 1024px (3–4 columns)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297680"/>
            <a:ext cx="5303520" cy="2011680"/>
          </a:xfrm>
          <a:prstGeom prst="rect">
            <a:avLst/>
          </a:prstGeom>
          <a:solidFill>
            <a:srgbClr val="141218"/>
          </a:solidFill>
          <a:ln w="12700">
            <a:solidFill>
              <a:srgbClr val="23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4074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C755"/>
                </a:solidFill>
                <a:latin typeface="Inter"/>
              </a:defRPr>
            </a:pPr>
            <a:r>
              <a:t>CONTENT REGIONS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73659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Topbar: fixed, 60px height, z-index: 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95604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Sidebar (if used): 260px width, collapsible on mobile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17550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Main content: margin-top: 72px (below topbar)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394960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Footer: minimal, only on marketing pages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68756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→ Always use main-content class for consistent padding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4297680"/>
            <a:ext cx="5303520" cy="2011680"/>
          </a:xfrm>
          <a:prstGeom prst="rect">
            <a:avLst/>
          </a:prstGeom>
          <a:solidFill>
            <a:srgbClr val="141218"/>
          </a:solidFill>
          <a:ln w="12700">
            <a:solidFill>
              <a:srgbClr val="23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4074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BCFF"/>
                </a:solidFill>
                <a:latin typeface="Inter"/>
              </a:defRPr>
            </a:pPr>
            <a:r>
              <a:t>Z-INDEX SCALE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73659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z-1: Cards, raised elements (1)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95604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z-10: Sticky elements, tabs (10)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517550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z-50: Dropdowns, popovers (50)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5394960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z-100: Topbar, navigation (100)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5614416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z-200: Modals, drawers (200)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583387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z-300: Toasts, notifications (300)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605332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z-999: Dev tools overlay (999)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D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yleguide_bg_17727513081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t>Shape &amp; Elevation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BCFF"/>
                </a:solidFill>
                <a:latin typeface="Inter"/>
              </a:defRPr>
            </a:pPr>
            <a:r>
              <a:t>M3 shape tokens and shadow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2560320"/>
          </a:xfrm>
          <a:prstGeom prst="rect">
            <a:avLst/>
          </a:prstGeom>
          <a:solidFill>
            <a:srgbClr val="141218"/>
          </a:solidFill>
          <a:ln w="12700">
            <a:solidFill>
              <a:srgbClr val="23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BCFF"/>
                </a:solidFill>
                <a:latin typeface="Inter"/>
              </a:defRPr>
            </a:pPr>
            <a:r>
              <a:t>SHAPE TOKENS (BORDER RADIUS)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XS: 4px — chips, tags, inline badges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SM: 8px — buttons, input fields, small cards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5798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MD: 12px — standard cards, dropdowns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LG: 16px — hero cards, floating panels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96896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XL: 28px — FAB buttons, pill shapes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1635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Full: 100px — avatar circles, round buttons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CSS: var(--radius-xs) through var(--radius-full)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28416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Never use arbitrary border-radius values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303520" cy="2560320"/>
          </a:xfrm>
          <a:prstGeom prst="rect">
            <a:avLst/>
          </a:prstGeom>
          <a:solidFill>
            <a:srgbClr val="141218"/>
          </a:solidFill>
          <a:ln w="12700">
            <a:solidFill>
              <a:srgbClr val="23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898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DD8E7"/>
                </a:solidFill>
                <a:latin typeface="Inter"/>
              </a:defRPr>
            </a:pPr>
            <a:r>
              <a:t>ELEVATION (M3 SHADOW)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71907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Level 1 — Cards at rest, buttons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0 1px 2px rgba(0,0,0,0.3), 0 1px 3px 1px rgba(0,0,0,0.15)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15798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Level 2 — Hover cards, raised buttons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377440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0 1px 2px rgba(0,0,0,0.3), 0 2px 6px 2px rgba(0,0,0,0.15)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596896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Level 3 — Dropdowns, menus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81635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0 4px 8px 3px rgba(0,0,0,0.15), 0 1px 3px rgba(0,0,0,0.3)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03580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Level 4 — Modals, drawers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25526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Level 5 — Full-screen overlays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54787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CSS: var(--elevation-1) through var(--elevation-5)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114800"/>
            <a:ext cx="10881360" cy="2011680"/>
          </a:xfrm>
          <a:prstGeom prst="rect">
            <a:avLst/>
          </a:prstGeom>
          <a:solidFill>
            <a:srgbClr val="141218"/>
          </a:solidFill>
          <a:ln w="12700">
            <a:solidFill>
              <a:srgbClr val="23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2245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C755"/>
                </a:solidFill>
                <a:latin typeface="Inter"/>
              </a:defRPr>
            </a:pPr>
            <a:r>
              <a:t>BORDER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553712"/>
            <a:ext cx="10469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Default border: 1px solid var(--md-outline-variant)  →  #49454f (subtle, low contrast)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773168"/>
            <a:ext cx="10469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Active border: 1px solid var(--md-outline)  →  #79747e (medium contrast, focus states)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992624"/>
            <a:ext cx="10469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Accent border: 1px solid {accent}33  →  mode color at 20% opacity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285232"/>
            <a:ext cx="10469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Glass border (legacy): var(--glass-border) — mapped to md-outline-variant for backward compat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504688"/>
            <a:ext cx="10469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Never use solid bright borders on dark backgrounds — always use rgba or opacity modifiers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724144"/>
            <a:ext cx="10469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Input focus ring: 2px solid var(--md-primary) with 4px offset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D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yleguide_bg_17727513081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t>Motion &amp; Animation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BCFF"/>
                </a:solidFill>
                <a:latin typeface="Inter"/>
              </a:defRPr>
            </a:pPr>
            <a:r>
              <a:t>M3 motion system — purposeful, quick, and GPU-friendly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3474720" cy="5029200"/>
          </a:xfrm>
          <a:prstGeom prst="rect">
            <a:avLst/>
          </a:prstGeom>
          <a:solidFill>
            <a:srgbClr val="141218"/>
          </a:solidFill>
          <a:ln w="12700">
            <a:solidFill>
              <a:srgbClr val="23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BCFF"/>
                </a:solidFill>
                <a:latin typeface="Inter"/>
              </a:defRPr>
            </a:pPr>
            <a:r>
              <a:t>MOTION 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Duration: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Fast: 150ms — hover, focus, small state changes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5798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Smooth: 300ms — cards, panels, navigation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Emphasized: 500ms — page transitions, modals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70048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Easing: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950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Emphasized: cubic-bezier(0.2, 0, 0, 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Standard: cubic-bezier(0.2, 0, 0, 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28416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Decelerate: cubic-bezier(0, 0, 0, 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4787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Accelerate: cubic-bezier(0.3, 0, 1, 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4048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CSS: var(--transition-fast)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59936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CSS: var(--transition-smooth)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7939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CSS: var(--motion-emphasized)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1280160"/>
            <a:ext cx="3474720" cy="5029200"/>
          </a:xfrm>
          <a:prstGeom prst="rect">
            <a:avLst/>
          </a:prstGeom>
          <a:solidFill>
            <a:srgbClr val="141218"/>
          </a:solidFill>
          <a:ln w="12700">
            <a:solidFill>
              <a:srgbClr val="23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4AB"/>
                </a:solidFill>
                <a:latin typeface="Inter"/>
              </a:defRPr>
            </a:pPr>
            <a:r>
              <a:t>ANIMATION 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171907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✅ GPU-accelerated properties ONLY: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1938528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transform (translate, scale, rotate)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15798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opacity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37744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filter (blur, brightness)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2670048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❌ NEVER animate: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88950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width, height, top, left, right, bottom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10896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margin, padding, border-width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328416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background-color (use opacity instead)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362102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Budget: &lt; 16ms per frame (60fps)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84048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will-change: only during animation, remove after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059936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Prefer CSS transitions over JS requestAnimationFrame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1280160"/>
            <a:ext cx="3474720" cy="5029200"/>
          </a:xfrm>
          <a:prstGeom prst="rect">
            <a:avLst/>
          </a:prstGeom>
          <a:solidFill>
            <a:srgbClr val="141218"/>
          </a:solidFill>
          <a:ln w="12700">
            <a:solidFill>
              <a:srgbClr val="23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D994"/>
                </a:solidFill>
                <a:latin typeface="Inter"/>
              </a:defRPr>
            </a:pPr>
            <a:r>
              <a:t>STANDARD ANIMATIONS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171907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fade-in — opacity 0→1, 300ms ease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1938528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slide-up — translateY(12px)→0, 400ms ease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215798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pulse — opacity 1→0.5→1, 1.5s infinite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245059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State layers (M3):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2670048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Hover: +8% primary overlay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288950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Press: +12% primary overlay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310896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Focus: +12% primary overlay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3401568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CSS variables: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362102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var(--state-hover): rgba(207,188,255,0.08)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384048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var(--state-press): rgba(207,188,255,0.12)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4059936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var(--state-focus): rgba(207,188,255,0.12)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435254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Respect prefers-reduced-motion always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D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yleguide_bg_17727513081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t>Component Patterns — Cards &amp; Buttons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BCFF"/>
                </a:solidFill>
                <a:latin typeface="Inter"/>
              </a:defRPr>
            </a:pPr>
            <a:r>
              <a:t>Consistent component DNA across all pages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2560320"/>
          </a:xfrm>
          <a:prstGeom prst="rect">
            <a:avLst/>
          </a:prstGeom>
          <a:solidFill>
            <a:srgbClr val="141218"/>
          </a:solidFill>
          <a:ln w="12700">
            <a:solidFill>
              <a:srgbClr val="23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BCFF"/>
                </a:solidFill>
                <a:latin typeface="Inter"/>
              </a:defRPr>
            </a:pPr>
            <a:r>
              <a:t>CARD ANATOMY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Background: var(--bg-card) → M3 Surface Container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Border: 1px solid var(--glass-border)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5798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Border-radius: var(--radius-md) → 12px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Padding: 20px–28px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96896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Hover: background shifts to var(--bg-card-hover)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1635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Active/selected: accent border + dim 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Card variants: default, interactive (clickable), stat, mode, alert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5303520" cy="2560320"/>
          </a:xfrm>
          <a:prstGeom prst="rect">
            <a:avLst/>
          </a:prstGeom>
          <a:solidFill>
            <a:srgbClr val="141218"/>
          </a:solidFill>
          <a:ln w="12700">
            <a:solidFill>
              <a:srgbClr val="23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898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DD8E7"/>
                </a:solidFill>
                <a:latin typeface="Inter"/>
              </a:defRPr>
            </a:pPr>
            <a:r>
              <a:t>BUTTON HIERARCHY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1907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btn-primary — filled, gradient background, strong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93852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bg: linear-gradient(135deg, accent, accent-cc)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5798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box-shadow: 0 0 16px glow color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5059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btn-secondary — outlined, accent border + transparent bg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67004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border: 1px solid accent at 30% opacity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962656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btn-ghost — text only, hover shows state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18211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btn-danger — red/error color, destructive actions only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114800"/>
            <a:ext cx="5303520" cy="2194560"/>
          </a:xfrm>
          <a:prstGeom prst="rect">
            <a:avLst/>
          </a:prstGeom>
          <a:solidFill>
            <a:srgbClr val="141218"/>
          </a:solidFill>
          <a:ln w="12700">
            <a:solidFill>
              <a:srgbClr val="23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22452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D994"/>
                </a:solidFill>
                <a:latin typeface="Inter"/>
              </a:defRPr>
            </a:pPr>
            <a:r>
              <a:t>BUTTON SIZES &amp; STATES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55371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btn-sm: padding 6px 14px, font 12px, radius 6px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77316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btn (default): padding 10px 20px, font 14px, radius 8px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99262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btn-lg: padding 14px 28px, font 16px, radius 12px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28523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States: default → hover (+8% overlay) → active (+12%) → disabled (50% opacity)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50468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Loading: show spinner, disable interaction, maintain size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2414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Min touch target: 44×44px (even if visually smaller)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4114800"/>
            <a:ext cx="5303520" cy="2194560"/>
          </a:xfrm>
          <a:prstGeom prst="rect">
            <a:avLst/>
          </a:prstGeom>
          <a:solidFill>
            <a:srgbClr val="141218"/>
          </a:solidFill>
          <a:ln w="12700">
            <a:solidFill>
              <a:srgbClr val="23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22452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C755"/>
                </a:solidFill>
                <a:latin typeface="Inter"/>
              </a:defRPr>
            </a:pPr>
            <a:r>
              <a:t>INPUT FIELDS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55371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Background: var(--bg-input) → surface-container-low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77316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Border: 1px solid var(--glass-border)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499262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Focus: border-color: var(--md-primary), ring: 2px offset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212080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Error: border-color: var(--md-error), helper text in 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431536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Placeholder: var(--text-muted)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72414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Always include a visible &lt;label&gt; — never rely on placeholder alone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943600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Group related fields in fieldsets with legend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D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yleguide_bg_17727513081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t>Component Patterns — Badges, Tables &amp;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BCFF"/>
                </a:solidFill>
                <a:latin typeface="Inter"/>
              </a:defRPr>
            </a:pPr>
            <a:r>
              <a:t>Consistent data display across all views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3474720" cy="5029200"/>
          </a:xfrm>
          <a:prstGeom prst="rect">
            <a:avLst/>
          </a:prstGeom>
          <a:solidFill>
            <a:srgbClr val="141218"/>
          </a:solidFill>
          <a:ln w="12700">
            <a:solidFill>
              <a:srgbClr val="23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D994"/>
                </a:solidFill>
                <a:latin typeface="Inter"/>
              </a:defRPr>
            </a:pPr>
            <a:r>
              <a:t>BADGES &amp;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badge-new — green background, green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badge-contacted — cyan bg +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5798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badge-confirmed — purple bg +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badge-completed — success green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96896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badge-draft — muted/gray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1635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badge-cancelled — red/error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Common props: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28416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font-size: 11px, font-weight: 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4787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padding: 3px 10px, border-radius: full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67328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uppercase, letter-spacing: 0.5px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59936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Include emoji prefix for quick scanning: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7939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📋 New  📡 Contacted  ✅ Confirmed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1280160"/>
            <a:ext cx="3474720" cy="5029200"/>
          </a:xfrm>
          <a:prstGeom prst="rect">
            <a:avLst/>
          </a:prstGeom>
          <a:solidFill>
            <a:srgbClr val="141218"/>
          </a:solidFill>
          <a:ln w="12700">
            <a:solidFill>
              <a:srgbClr val="23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DD8E7"/>
                </a:solidFill>
                <a:latin typeface="Inter"/>
              </a:defRPr>
            </a:pPr>
            <a:r>
              <a:t>DATA TABLES &amp; LISTS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171907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event-list pattern for clickable rows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1938528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Alternating row hover: var(--state-hover)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15798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Fixed headers for long scrollable tables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37744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Sortable columns: indicator arrow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2670048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Row structure: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88950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Status badge | Name + subtitle | Date | 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18211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Skeleton loading: 3 placeholder rows (pulse anim)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401568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Empty state: icon + message + CTA link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3694176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Responsive: hide non-essential columns on mobile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91363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Keep status + name always visible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1280160"/>
            <a:ext cx="3474720" cy="5029200"/>
          </a:xfrm>
          <a:prstGeom prst="rect">
            <a:avLst/>
          </a:prstGeom>
          <a:solidFill>
            <a:srgbClr val="141218"/>
          </a:solidFill>
          <a:ln w="12700">
            <a:solidFill>
              <a:srgbClr val="23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C755"/>
                </a:solidFill>
                <a:latin typeface="Inter"/>
              </a:defRPr>
            </a:pPr>
            <a:r>
              <a:t>ALERTS &amp; TOASTS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171907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Alert types: info, success, warning, error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1938528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Background: accent-dim (12% opacity)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215798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Border-left: 3px solid accent color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237744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Icon + message + optional action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2670048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Toast notifications: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288950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Position: bottom-right, 24px inset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10896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Max width: 400px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3328416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Auto-dismiss: 5s standard, 10s error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354787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Animation: slide-up + fade-in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3767328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Stack: max 3 visible, newest on top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4059936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Modals: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427939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Overlay: rgba(0,0,0,0.6) backdrop-blur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4498848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Max width: 600px, centered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471830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Focus trap: keyboard users stay inside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D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yleguide_bg_17727513081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t>Iconography &amp; Imagery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BCFF"/>
                </a:solidFill>
                <a:latin typeface="Inter"/>
              </a:defRPr>
            </a:pPr>
            <a:r>
              <a:t>Emoji-first icons, optimized images, and brand consistency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2286000"/>
          </a:xfrm>
          <a:prstGeom prst="rect">
            <a:avLst/>
          </a:prstGeom>
          <a:solidFill>
            <a:srgbClr val="141218"/>
          </a:solidFill>
          <a:ln w="12700">
            <a:solidFill>
              <a:srgbClr val="23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BCFF"/>
                </a:solidFill>
                <a:latin typeface="Inter"/>
              </a:defRPr>
            </a:pPr>
            <a:r>
              <a:t>ICON SYSTEM — EMOJI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Primary icon system: Native emoji (zero bundle cost)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Standard mapping: 🎧 Events, 🔍 Leads, 📧 Email, 📊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5798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Mode icons: 🎵 Performer, 📚 Instructor, 🎙️ Studio, 🚐 Touring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5059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For complex icons: use inline SVG (not icon font)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7004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Icon size: 16px inline, 20px buttons, 48px hero, 64px empty states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303520" cy="2286000"/>
          </a:xfrm>
          <a:prstGeom prst="rect">
            <a:avLst/>
          </a:prstGeom>
          <a:solidFill>
            <a:srgbClr val="141218"/>
          </a:solidFill>
          <a:ln w="12700">
            <a:solidFill>
              <a:srgbClr val="23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898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DD8E7"/>
                </a:solidFill>
                <a:latin typeface="Inter"/>
              </a:defRPr>
            </a:pPr>
            <a:r>
              <a:t>IMAGE GUIDELINES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71907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Format: WebP preferred, fallback PNG. Never unoptimized JPEG.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Max file size: 200KB per image (hard limit: 500KB)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5798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Hero images: lazy-load, use blur placeholder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377440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Avatar/profile: 40×40px, border-radius: full, fallback initials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96896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Always include meaningful alt text for accessibility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81635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Use next/image for automatic optimization in Next.js projects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931920"/>
            <a:ext cx="10881360" cy="2286000"/>
          </a:xfrm>
          <a:prstGeom prst="rect">
            <a:avLst/>
          </a:prstGeom>
          <a:solidFill>
            <a:srgbClr val="141218"/>
          </a:solidFill>
          <a:ln w="12700">
            <a:solidFill>
              <a:srgbClr val="23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0416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C755"/>
                </a:solidFill>
                <a:latin typeface="Inter"/>
              </a:defRPr>
            </a:pPr>
            <a:r>
              <a:t>BRAND ELEMENTS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370832"/>
            <a:ext cx="10469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Logo: GigLift logotype — white on dark, purple glow applied via CSS filter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90288"/>
            <a:ext cx="10469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→ Use NavLogo component for consistent rendering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809744"/>
            <a:ext cx="10469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→ Logo links to homepage, even when authenticated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29200"/>
            <a:ext cx="10469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→ Filter: drop-shadow(0 0 6px mode-glow-color)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321808"/>
            <a:ext cx="10469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Brand gradient: linear-gradient(135deg, var(--md-primary), var(--md-tertiary))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541264"/>
            <a:ext cx="10469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Gradient usage: hero headers, CTA backgrounds, loading bars — never body backgrounds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833872"/>
            <a:ext cx="10469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Tagline: 'AI-Powered Artist Growth Platform' — appears in topbar on all pages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053328"/>
            <a:ext cx="10469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Co-branding (if applicable): partner logo right-aligned in topbar, max 32px height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D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yleguide_bg_17727513081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t>Responsive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BCFF"/>
                </a:solidFill>
                <a:latin typeface="Inter"/>
              </a:defRPr>
            </a:pPr>
            <a:r>
              <a:t>Mobile-first — design for 320px, enhance for 1440px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3474720" cy="5029200"/>
          </a:xfrm>
          <a:prstGeom prst="rect">
            <a:avLst/>
          </a:prstGeom>
          <a:solidFill>
            <a:srgbClr val="141218"/>
          </a:solidFill>
          <a:ln w="12700">
            <a:solidFill>
              <a:srgbClr val="23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D994"/>
                </a:solidFill>
                <a:latin typeface="Inter"/>
              </a:defRPr>
            </a:pPr>
            <a:r>
              <a:t>MOBILE (&lt; 768px)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Single column layout always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Nav collapsed to hamburger menu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5798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Cards stack vertically, full width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Hide secondary data columns in 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96896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Buttons: full width on mobile modals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1635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Touch targets: 44×44px minimum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35808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Padding: 16px page, 14px card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28416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Navigation: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4787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Topbar stays fixed, 52px height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67328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Mode switch: dropdown not tabs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8678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Settings: slide-in drawer from right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7939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Test at: 320px, 375px, 414px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1280160"/>
            <a:ext cx="3474720" cy="5029200"/>
          </a:xfrm>
          <a:prstGeom prst="rect">
            <a:avLst/>
          </a:prstGeom>
          <a:solidFill>
            <a:srgbClr val="141218"/>
          </a:solidFill>
          <a:ln w="12700">
            <a:solidFill>
              <a:srgbClr val="23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DD8E7"/>
                </a:solidFill>
                <a:latin typeface="Inter"/>
              </a:defRPr>
            </a:pPr>
            <a:r>
              <a:t>TABLET (768–1024px)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171907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2-column grid for cards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1938528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Nav: full topbar, horizontal mode tabs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15798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Tables: show 3-4 columns max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37744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Modals: 80% width, centered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2596896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Side panels: overlay, not push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88950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Grid pattern: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10896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grid-template-columns: repeat(2, 1fr)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401568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Dashboard stats: 2×3 grid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362102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Lead cards: 2 per row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91363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Test at: 768px, 1024px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1280160"/>
            <a:ext cx="3474720" cy="5029200"/>
          </a:xfrm>
          <a:prstGeom prst="rect">
            <a:avLst/>
          </a:prstGeom>
          <a:solidFill>
            <a:srgbClr val="141218"/>
          </a:solidFill>
          <a:ln w="12700">
            <a:solidFill>
              <a:srgbClr val="23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BCFF"/>
                </a:solidFill>
                <a:latin typeface="Inter"/>
              </a:defRPr>
            </a:pPr>
            <a:r>
              <a:t>DESKTOP (&gt; 1024px)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171907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3-4 column grids, auto-fit preferred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1938528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Full horizontal nav with mode tabs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215798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Tables: all columns visible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237744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Modals: 600px max-width, centered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2596896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Side panels: push layout (optional)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288950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Grid pattern: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10896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grid-template-columns: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3328416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repeat(auto-fit, minmax(200px, 1fr))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362102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Dashboard: 4-6 stat cards per row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384048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Max content width: 1200px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4133088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Test at: 1280px, 1440px, 1920px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D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yleguide_bg_17727513081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t>Accessibility — WCAG 2.1 AA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BCFF"/>
                </a:solidFill>
                <a:latin typeface="Inter"/>
              </a:defRPr>
            </a:pPr>
            <a:r>
              <a:t>Every user must be able to navigate, read, and interact with the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3474720" cy="5029200"/>
          </a:xfrm>
          <a:prstGeom prst="rect">
            <a:avLst/>
          </a:prstGeom>
          <a:solidFill>
            <a:srgbClr val="141218"/>
          </a:solidFill>
          <a:ln w="12700">
            <a:solidFill>
              <a:srgbClr val="23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BCFF"/>
                </a:solidFill>
                <a:latin typeface="Inter"/>
              </a:defRPr>
            </a:pPr>
            <a:r>
              <a:t>COLOR &amp; CONTRAST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Text: 4.5:1 contrast ratio minimum (AA)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Large text (&gt;18px bold): 3:1 ratio minimum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5798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Focus indicators: 3:1 against adjacent colors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5059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Our contrast ratios: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70048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On-surface (#e6e1e5) on Surface (#141218) → 12.3:1 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950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Outline (#79747e) on Surface → 4.8:1 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Primary (#cfbcff) on Surface → 9.6:1 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01568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Never rely on color alone for meaning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2102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→ Always pair with icon/emoji + text label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4048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→ Status badges use color + emoji prefix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280160"/>
            <a:ext cx="3474720" cy="5029200"/>
          </a:xfrm>
          <a:prstGeom prst="rect">
            <a:avLst/>
          </a:prstGeom>
          <a:solidFill>
            <a:srgbClr val="141218"/>
          </a:solidFill>
          <a:ln w="12700">
            <a:solidFill>
              <a:srgbClr val="23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D994"/>
                </a:solidFill>
                <a:latin typeface="Inter"/>
              </a:defRPr>
            </a:pPr>
            <a:r>
              <a:t>KEYBOARD &amp; 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71907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All interactive elements: keyboard accessible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1938528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Tab order: logical, left-to-right, top-to-bottom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5798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Focus ring: 2px solid primary, 4px offset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37744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Skip link: 'Skip to main content' on every page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670048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Modal focus trap: Tab cycles within modal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88950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Escape key: closes modals, popovers, dropdowns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18211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ARIA requirements: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401568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aria-label on icon-only buttons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62102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aria-expanded on toggleable content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84048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aria-live='polite' for toast notifications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059936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role='dialog' + aria-modal on modals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1280160"/>
            <a:ext cx="3474720" cy="5029200"/>
          </a:xfrm>
          <a:prstGeom prst="rect">
            <a:avLst/>
          </a:prstGeom>
          <a:solidFill>
            <a:srgbClr val="141218"/>
          </a:solidFill>
          <a:ln w="12700">
            <a:solidFill>
              <a:srgbClr val="23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C755"/>
                </a:solidFill>
                <a:latin typeface="Inter"/>
              </a:defRPr>
            </a:pPr>
            <a:r>
              <a:t>SEMANTIC HTML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171907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&lt;nav&gt; for navigation bars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1938528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&lt;main&gt; for primary content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215798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&lt;section&gt; for logical groups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237744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&lt;article&gt; for self-contained content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2596896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&lt;aside&gt; for supplementary info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288950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Form elements: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310896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&lt;label&gt; for every input (visible or sr-only)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328416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&lt;fieldset&gt; + &lt;legend&gt; for grouped fields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354787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htmlFor= on labels (React: htmlFor)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384048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Images / media: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4059936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alt= on all images (descriptive)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427939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Empty alt='' for decorative images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4498848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&lt;figure&gt; + &lt;figcaption&gt; for meaningful images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D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yleguide_bg_17727513081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t>CSS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BCFF"/>
                </a:solidFill>
                <a:latin typeface="Inter"/>
              </a:defRPr>
            </a:pPr>
            <a:r>
              <a:t>Vanilla CSS with design tokens — no utility frameworks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03520" cy="2286000"/>
          </a:xfrm>
          <a:prstGeom prst="rect">
            <a:avLst/>
          </a:prstGeom>
          <a:solidFill>
            <a:srgbClr val="141218"/>
          </a:solidFill>
          <a:ln w="12700">
            <a:solidFill>
              <a:srgbClr val="23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BCFF"/>
                </a:solidFill>
                <a:latin typeface="Inter"/>
              </a:defRPr>
            </a:pPr>
            <a:r>
              <a:t>FILE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globals.css — all design tokens, reset, base styles, components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Future: modular CSS with @import (when CSS nesting support is stable)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31136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Organization within globals.css: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5059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1. Imports (Google Fonts)  →  2. CSS Variables  →  3. Reset/Base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7004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  4. Layout  →  5. Components  →  6. Pages  →  7. Responsive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303520" cy="2286000"/>
          </a:xfrm>
          <a:prstGeom prst="rect">
            <a:avLst/>
          </a:prstGeom>
          <a:solidFill>
            <a:srgbClr val="141218"/>
          </a:solidFill>
          <a:ln w="12700">
            <a:solidFill>
              <a:srgbClr val="23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898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DD8E7"/>
                </a:solidFill>
                <a:latin typeface="Inter"/>
              </a:defRPr>
            </a:pPr>
            <a:r>
              <a:t>NAMING CONVENTION (BEM-INSPIRED)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71907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Blocks: .card, .btn, .badge, .event-list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Elements: .event-col-name, .event-col-date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5798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Modifiers: .btn-primary, .btn-sm, .badge-confirmed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45059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❌ No utility classes (no .mt-4, .text-center, .flex)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67004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✅ Use semantic class names that describe purpose, not styles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40480"/>
            <a:ext cx="5303520" cy="2286000"/>
          </a:xfrm>
          <a:prstGeom prst="rect">
            <a:avLst/>
          </a:prstGeom>
          <a:solidFill>
            <a:srgbClr val="141218"/>
          </a:solidFill>
          <a:ln w="12700">
            <a:solidFill>
              <a:srgbClr val="23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950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D994"/>
                </a:solidFill>
                <a:latin typeface="Inter"/>
              </a:defRPr>
            </a:pPr>
            <a:r>
              <a:t>CSS VARIABLE USAGE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27939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ALWAYS use design tokens — never hardcode values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572000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✅ color: var(--text-primary)  |  background: var(--bg-card)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91456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✅ border-radius: var(--radius-md)  |  box-shadow: var(--elevation-2)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01091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❌ color: #e6e1e5  |  background: #1d1b23  |  border-radius: 12px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303520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Exception: mode-specific dynamic colors via props (inline styles OK for these)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840480"/>
            <a:ext cx="5303520" cy="2286000"/>
          </a:xfrm>
          <a:prstGeom prst="rect">
            <a:avLst/>
          </a:prstGeom>
          <a:solidFill>
            <a:srgbClr val="141218"/>
          </a:solidFill>
          <a:ln w="12700">
            <a:solidFill>
              <a:srgbClr val="23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9502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4AB"/>
                </a:solidFill>
                <a:latin typeface="Inter"/>
              </a:defRPr>
            </a:pPr>
            <a:r>
              <a:t>PERFORMANCE RULES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27939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Prefer CSS classes over inline styles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49884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Avoid !important — fix specificity instead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71830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Minimize nesting depth (max 3 levels)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937760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Use CSS containment for complex layouts (contain: layout)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157216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Avoid * selectors — be specific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37667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C"/>
                </a:solidFill>
                <a:latin typeface="Inter"/>
              </a:defRPr>
            </a:pPr>
            <a:r>
              <a:t>• All animations: transform + opacity only (GPU accel)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D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yleguide_bg_17727513081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Inter"/>
              </a:defRPr>
            </a:pPr>
            <a:r>
              <a:t>GigLift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CFBCFF"/>
                </a:solidFill>
                <a:latin typeface="Inter"/>
              </a:defRPr>
            </a:pPr>
            <a:r>
              <a:t>Design System &amp; Style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C8DC"/>
                </a:solidFill>
                <a:latin typeface="Inter"/>
              </a:defRPr>
            </a:pPr>
            <a:r>
              <a:t>Every pixel is intentional.</a:t>
            </a:r>
            <a:br/>
            <a:r>
              <a:t>Every animation serves a purpose.</a:t>
            </a:r>
            <a:br/>
            <a:r>
              <a:t>Every component tells a story.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8CA5"/>
                </a:solidFill>
                <a:latin typeface="Inter"/>
              </a:defRPr>
            </a:pPr>
            <a:r>
              <a:t>Material Design 3  •  Dark-First  •  Performance-Optimized  •  WCAG 2.1 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C8CA5"/>
                </a:solidFill>
                <a:latin typeface="Inter"/>
              </a:defRPr>
            </a:pPr>
            <a:r>
              <a:t>v1.0  •  March 2026  •  Living document — updated with each major design evolution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