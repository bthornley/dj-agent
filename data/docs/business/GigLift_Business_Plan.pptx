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cover_1772164770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5029200" y="1371600"/>
            <a:ext cx="1828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6000" b="0">
                <a:solidFill>
                  <a:srgbClr val="FFFFFF"/>
                </a:solidFill>
                <a:latin typeface="Calibri"/>
              </a:defRPr>
            </a:pPr>
            <a:r>
              <a:t>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22860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5200" b="1">
                <a:solidFill>
                  <a:srgbClr val="FFFFFF"/>
                </a:solidFill>
                <a:latin typeface="Calibri"/>
              </a:defRPr>
            </a:pPr>
            <a:r>
              <a:t>STAGESCOUT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200400"/>
            <a:ext cx="8229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0">
                <a:solidFill>
                  <a:srgbClr val="A78BFA"/>
                </a:solidFill>
                <a:latin typeface="Calibri"/>
              </a:defRPr>
            </a:pPr>
            <a:r>
              <a:t>Business Plan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384048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78BFA"/>
                </a:solidFill>
                <a:latin typeface="Calibri"/>
              </a:defRPr>
            </a:pPr>
            <a:r>
              <a:t>━━━━━━━━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438912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CBD5E1"/>
                </a:solidFill>
                <a:latin typeface="Calibri"/>
              </a:defRPr>
            </a:pPr>
            <a:r>
              <a:t>AI-Powered Gig Discovery for Musicians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5486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94A3B8"/>
                </a:solidFill>
                <a:latin typeface="Calibri"/>
              </a:defRPr>
            </a:pPr>
            <a:r>
              <a:t>February 2026  •  Confidential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59436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300" b="0">
                <a:solidFill>
                  <a:srgbClr val="A78BFA"/>
                </a:solidFill>
                <a:latin typeface="Calibri"/>
              </a:defRPr>
            </a:pPr>
            <a:r>
              <a:t>stagescout-app.vercel.app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54864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A78BFA"/>
                </a:solidFill>
                <a:latin typeface="Calibri"/>
              </a:defRPr>
            </a:pPr>
            <a:r>
              <a:t>Table of 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1188720"/>
            <a:ext cx="10058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312E81"/>
                </a:solidFill>
                <a:latin typeface="Calibri"/>
              </a:defRPr>
            </a:pPr>
            <a:r>
              <a:t>━━━━━━━━━━━━━━━━━━━━━━━━━━━━━━━━━━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16459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1.  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20574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2.  The Problem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24688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3.  The Solution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28803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4.  Market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828800" y="32918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5.  Business Model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28800" y="37033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6.  Competitive Landscape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411480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7.  Go-to-Market Strategy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452628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8.  Technology Architecture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28800" y="493776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9.  Team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534924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FFFFFF"/>
                </a:solidFill>
                <a:latin typeface="Calibri"/>
              </a:defRPr>
            </a:pPr>
            <a:r>
              <a:t>10.  Funding Ask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5760720"/>
            <a:ext cx="7315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700" b="0">
                <a:solidFill>
                  <a:srgbClr val="CBD5E1"/>
                </a:solidFill>
                <a:latin typeface="Calibri"/>
              </a:defRPr>
            </a:pPr>
            <a:r>
              <a:t>11.  Financial Summary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1. Executive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Executive Summary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188720"/>
            <a:ext cx="594360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Calibri"/>
              </a:defRPr>
            </a:pPr>
            <a:r>
              <a:t>StageScout is an AI-powered lead discovery platform that helps musicians — DJs, bands, solo artists, and music teachers — find and book gigs automatically.</a:t>
            </a:r>
            <a:br/>
            <a:br/>
            <a:r>
              <a:t>The platform scans the web, online marketplaces (Craigslist, Facebook Marketplace, GigSalad, Thumbtack), and venue directories to surface high-value opportunities, score them, and deliver qualified leads directly to the artist.</a:t>
            </a:r>
            <a:br/>
            <a:br/>
            <a:r>
              <a:t>Unlike passive listing marketplaces where musicians compete for posted gigs, StageScout is a proactive outbound lead engine — it finds opportunities the artist didn't know existed.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132320" y="1188720"/>
          <a:ext cx="45720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Working MVP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Deployed at stagescout-app.vercel.app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Discovery Pipeline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 web scraping + lead scoring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Regions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50+ US metro areas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 Types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DJ, Band, Solo Artist, Music Teacher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Revenue Model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 / Pro ($19/mo) / Unlimited ($49/mo)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2. The Problem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972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The live music industry is valued at $38.6B — but independent musicians are struggling.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828800"/>
          <a:ext cx="50292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Statistic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Independent artists earning under $15K/yr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77.8%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Artists who can't afford touring costs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82.1%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Artists who have never toured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74.8%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Artists earning a living solely from music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Only 13.3%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Artists working freelance gigs to survive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35.6%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0" y="1828800"/>
            <a:ext cx="53035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A78BFA"/>
                </a:solidFill>
                <a:latin typeface="Calibri"/>
              </a:defRPr>
            </a:pPr>
            <a:r>
              <a:t>Existing Solutions Fall Short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0" y="246888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▸ GigSalad / Sonicbids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675120" y="278892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Passive marketplaces. High competition, low conversion.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32461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▸ Thumbtack / Bark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0" y="35661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Broad service marketplaces. Not music-specific.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402336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FFFFF"/>
                </a:solidFill>
                <a:latin typeface="Calibri"/>
              </a:defRPr>
            </a:pPr>
            <a:r>
              <a:t>▸ Manual outreach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4343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Cold-emailing venues, checking CL daily. Inconsistent.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303520"/>
            <a:ext cx="100584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CBD5E1"/>
                </a:solidFill>
                <a:latin typeface="Calibri"/>
              </a:defRPr>
            </a:pPr>
            <a:r>
              <a:t>Core problem: Musicians spend 10–20 hrs/week searching fragmented sources</a:t>
            </a:r>
            <a:br/>
            <a:r>
              <a:t>instead of practicing and performing.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3. The Solution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The Solution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005840"/>
            <a:ext cx="7315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0">
                <a:solidFill>
                  <a:srgbClr val="FFFFFF"/>
                </a:solidFill>
                <a:latin typeface="Calibri"/>
              </a:defRPr>
            </a:pPr>
            <a:r>
              <a:t>From passive waiting → active discovery.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🔍  AI-Powered Discovery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Automated web search + custom crawlers, 10+ marketplace sources per region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📊  Smart Lead Scoring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3566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Proprietary 0–100 scoring based on venue type, budget signals, artist fit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🌐  Multi-Source Aggregation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5029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Craigslist, Facebook Marketplace, GigSalad, Thumbtack, Bark, BandMix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0" y="173736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📍  Region Intelligence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75120" y="210312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50+ US metro areas with region-specific discovery seeds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🎵  Artist Type Customization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0" y="356616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Tailored seeds and scoring for DJs, bands, solo artists, music teachers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466344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FFFFFF"/>
                </a:solidFill>
                <a:latin typeface="Calibri"/>
              </a:defRPr>
            </a:pPr>
            <a:r>
              <a:t>⚡  Monthly Auto-Scan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5120" y="502920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Set-it-and-forget-it discovery with quota-managed monthly searches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How It Works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1440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Action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Detail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Select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User picks artist types and target regions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Generate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 creates tailored search seeds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3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Crawl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Scans Google, Craigslist, FB Marketplace, GigSalad, Thumbtack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4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Enrich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 extracts venue details, contacts, event info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Score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Lead scoring engine ranks opportunities 0–100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6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Deliver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High-value leads surfaced in dashboard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4. Market Opportunity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market_177216479435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Market Opportunity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Segment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Market Size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Growth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TAM — Global Live Music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$38.6B (2025)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8.8% CAGR → $62.6B by 2034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SAM — Booking Platforms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$1.26B (2024)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13.4% CAGR → $3.96B by 2033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 Live Music Market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$18.5B (2025)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6.5% CAGR → $26.9B by 2031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 Freelance Musicians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~2M+ active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Growing with gig economy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A78BFA"/>
                </a:solidFill>
                <a:latin typeface="Calibri"/>
              </a:defRPr>
            </a:pPr>
            <a:r>
              <a:t>Serviceable Market: ~500K actively gigging musicians × $20–50/mo = $120M–$300M/yr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743200" y="4572000"/>
          <a:ext cx="64008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33600"/>
                <a:gridCol w="2133600"/>
                <a:gridCol w="2133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Timeframe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Subscribers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 ARR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$240K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7,500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$2.2M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$7.5M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5. Business Model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SaaS Subscription Tiers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Plan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Price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Searches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Features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Free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$0/mo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5/month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Basic lead scoring, 1 region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 ⭐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$19/mo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50/month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All regions, priority scoring, CSV export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Unlimited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$49/mo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Unlimited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API access, white-label reports, dedicated support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31520" y="29260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Unit Economics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3474720"/>
          <a:ext cx="50292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14600"/>
                <a:gridCol w="25146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Avg Revenue/User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$20/mo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CAC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~$25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LTV (18 months)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~$360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LTV:CAC Ratio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14.4x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Gross Margin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~85%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Payback Period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&lt; 2 months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6400800" y="292608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Revenue Projections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0" y="3474720"/>
          <a:ext cx="5029200" cy="15361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57300"/>
                <a:gridCol w="1257300"/>
                <a:gridCol w="1257300"/>
                <a:gridCol w="12573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Subscribers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7,500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$180K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$625K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$240K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$2.2M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$7.5M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6. Competitive Landscape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Competitive Landscape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10515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/>
                <a:gridCol w="2628900"/>
                <a:gridCol w="2628900"/>
                <a:gridCol w="26289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Competitor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Model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Revenue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Key Weakness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GigSalad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Marketplace listing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~$16M ARR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Passive; 100+ applicants per listing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Sonicbids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Subscription listing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~$12M 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Pay to submit; low booking rates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Thumbtack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Broad marketplace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~$500M ARR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Not music-specific; low quality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ReverbNation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Artist tools + gigs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~$10M 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Feature bloat; discovery is secondary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3474720"/>
          <a:ext cx="1051560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Feature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StageScout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GigSalad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Sonicbids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Thumbtack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AI-Powered Discovery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Proactive Leads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Multi-Marketplace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Lead Scoring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Music-Specific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❌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731520" y="59436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A78BFA"/>
                </a:solidFill>
                <a:latin typeface="Calibri"/>
              </a:defRPr>
            </a:pPr>
            <a:r>
              <a:t>Moat: More users → better scoring data → higher retention → more users. Network effects compound.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7. Go-to-Market Strategy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Go-to-Market Strategy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Phase 1: Bootstrapped Growth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Months 0–6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Target: DJs/solo artists in SoCal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651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Reddit, Facebook, Instagram, SEO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108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Goal: 200 free users, 50 Pro subs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Phase 2: Growth Engine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29768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Months 6–18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8912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50+ US metro regions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89120" y="2651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Referral program, music school partnerships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89120" y="3108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Goal: 5,000 users, 1,000 Pro subs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38160" y="1188720"/>
            <a:ext cx="3657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A78BFA"/>
                </a:solidFill>
                <a:latin typeface="Calibri"/>
              </a:defRPr>
            </a:pPr>
            <a:r>
              <a:t>Phase 3: Platform Expansion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38160" y="164592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94A3B8"/>
                </a:solidFill>
                <a:latin typeface="Calibri"/>
              </a:defRPr>
            </a:pPr>
            <a:r>
              <a:t>Months 18–36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0" y="21945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Venue-side marketplace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0" y="26517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AI outreach automation, API partnerships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3108960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CBD5E1"/>
                </a:solidFill>
                <a:latin typeface="Calibri"/>
              </a:defRPr>
            </a:pPr>
            <a:r>
              <a:t>▸  Goal: 25,000+ subs, $7.5M ARR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8. Technology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Technology Architecture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371600" y="1371600"/>
          <a:ext cx="9144000" cy="307238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48000"/>
                <a:gridCol w="3048000"/>
                <a:gridCol w="30480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Component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Technology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Frontend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Next.js 16, TypeScript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Server-rendered React application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Auth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Clerk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User management, SSO, profile metadata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Stripe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Subscription management, 3-tier SaaS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Database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Turso (SQLite)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Lead storage, seed management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Web Search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SerpAPI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Google search for lead discovery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AI Pipeline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Custom TypeScript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Enrichment, contact extraction, scoring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Hosting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Vercel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Serverless, auto-scaling, edge CDN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371600" y="502920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78BFA"/>
                </a:solidFill>
                <a:latin typeface="Calibri"/>
              </a:defRPr>
            </a:pPr>
            <a:r>
              <a:t>Infrastructure cost: ~$200/mo at 1,000 users. Scales to 100K+ without re-architecture.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9. Team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Team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1828800" y="1828800"/>
          <a:ext cx="82296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Role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Hire Trigger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Founder / Full-Stack Engineer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✅ Active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Growth / Marketing Lead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🔜 Planned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At $500K 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ML Engineer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🔜 Planned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At $1M ARR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Customer Success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🔜 Planned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At $2M 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1828800" y="411480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CBD5E1"/>
                </a:solidFill>
                <a:latin typeface="Calibri"/>
              </a:defRPr>
            </a:pPr>
            <a:r>
              <a:t>Solo-founded and capital-efficient. The entire platform — frontend, backend,</a:t>
            </a:r>
            <a:br/>
            <a:r>
              <a:t>AI pipeline, billing, auth, deployment — built by a single engineer.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10. Funding Ask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Seed Round: $500,000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371600"/>
          <a:ext cx="54864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Allocation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Amount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Purpose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Engineering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$200,000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Senior hire, venue-side platform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Marketing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$150,000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Paid acquisition, content team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Infrastructure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$50,000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API costs, hosting scale-up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Operations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$100,000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Legal, accounting, runway buffer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6858000" y="1188720"/>
            <a:ext cx="50292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Key Milestones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858000" y="1737360"/>
          <a:ext cx="4572000" cy="1920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86000"/>
                <a:gridCol w="22860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Timeline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Target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3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2,000 subscribers, $40K MRR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6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5,000 subs, venue marketplace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12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10,000 subs, $200K MRR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18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Series A at $25M+ valuation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section_17721647824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914400" y="256032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200" b="1">
                <a:solidFill>
                  <a:srgbClr val="FFFFFF"/>
                </a:solidFill>
                <a:latin typeface="Calibri"/>
              </a:defRPr>
            </a:pPr>
            <a:r>
              <a:t>11. Financial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5661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0">
                <a:solidFill>
                  <a:srgbClr val="A78BFA"/>
                </a:solidFill>
                <a:latin typeface="Calibri"/>
              </a:defRPr>
            </a:pPr>
            <a:r>
              <a:t>━━━━━━━━━━━━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A78BFA"/>
                </a:solidFill>
                <a:latin typeface="Calibri"/>
              </a:defRPr>
            </a:pPr>
            <a:r>
              <a:t>Financial Summary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731520" y="1188720"/>
          <a:ext cx="640080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00200"/>
                <a:gridCol w="1600200"/>
                <a:gridCol w="1600200"/>
                <a:gridCol w="1600200"/>
              </a:tblGrid>
              <a:tr h="38404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1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2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  <a:latin typeface="Calibri"/>
                        </a:defRPr>
                      </a:pPr>
                      <a:r>
                        <a:t>Year 3</a:t>
                      </a:r>
                    </a:p>
                  </a:txBody>
                  <a:tcPr>
                    <a:solidFill>
                      <a:srgbClr val="312E8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Subscribers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1,000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7,500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25,000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ARR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$240K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$2.2M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$7.5M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Gross Margin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85%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87%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89%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Burn Rate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$15K/mo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$40K/mo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$80K/mo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Breakeven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Month 10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—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Net Revenue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-$60K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$1.7M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0">
                          <a:solidFill>
                            <a:srgbClr val="E2E8F0"/>
                          </a:solidFill>
                          <a:latin typeface="Calibri"/>
                        </a:defRPr>
                      </a:pPr>
                      <a:r>
                        <a:t>$6.5M</a:t>
                      </a:r>
                    </a:p>
                  </a:txBody>
                  <a:tcPr>
                    <a:solidFill>
                      <a:srgbClr val="16143B"/>
                    </a:solidFill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7772400" y="11887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A78BFA"/>
                </a:solidFill>
                <a:latin typeface="Calibri"/>
              </a:defRPr>
            </a:pPr>
            <a:r>
              <a:t>Why Now?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772400" y="182880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AI maturity — affordable, accurate lead engines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772400" y="233172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Gig economy boom — 15%+ annual growth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0" y="283464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Post-pandemic live music surge — 8.8% CAGR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0" y="333756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Marketplace fatigue — low ROI on passive platforms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0" y="3840480"/>
            <a:ext cx="4114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CBD5E1"/>
                </a:solidFill>
                <a:latin typeface="Calibri"/>
              </a:defRPr>
            </a:pPr>
            <a:r>
              <a:t>▸  No incumbent — no AI gig discovery at scale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629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bp_cover_17721647709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828800" y="210312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4800" b="1">
                <a:solidFill>
                  <a:srgbClr val="FFFFFF"/>
                </a:solidFill>
                <a:latin typeface="Calibri"/>
              </a:defRPr>
            </a:pPr>
            <a:r>
              <a:t>STAGESCOUT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828800" y="3017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78BFA"/>
                </a:solidFill>
                <a:latin typeface="Calibri"/>
              </a:defRPr>
            </a:pPr>
            <a:r>
              <a:t>━━━━━━━━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0" y="3566160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BD5E1"/>
                </a:solidFill>
                <a:latin typeface="Calibri"/>
              </a:defRPr>
            </a:pPr>
            <a:r>
              <a:t>Find your next gig before anyone else does.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28800" y="45720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500" b="0">
                <a:solidFill>
                  <a:srgbClr val="A78BFA"/>
                </a:solidFill>
                <a:latin typeface="Calibri"/>
              </a:defRPr>
            </a:pPr>
            <a:r>
              <a:t>stagescout-app.vercel.app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28800" y="548640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94A3B8"/>
                </a:solidFill>
                <a:latin typeface="Calibri"/>
              </a:defRPr>
            </a:pPr>
            <a:r>
              <a:t>Confidential  •  February 2026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