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6C63FF"/>
                </a:solidFill>
              </a:defRPr>
            </a:pPr>
            <a:r>
              <a:t>GigLift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Strategic Outlook &amp; Acquisition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8FA8"/>
                </a:solidFill>
              </a:defRPr>
            </a:pPr>
            <a:r>
              <a:t>Risk-Adjusted M&amp;A Advisory  ·  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8FA8"/>
                </a:solidFill>
              </a:defRPr>
            </a:pPr>
          </a:p>
          <a:p>
            <a:pPr>
              <a:spcBef>
                <a:spcPts val="600"/>
              </a:spcBef>
              <a:defRPr sz="1300" b="0">
                <a:solidFill>
                  <a:srgbClr val="8B8FA8"/>
                </a:solidFill>
              </a:defRPr>
            </a:pPr>
            <a:r>
              <a:t>This document blends the strategic acquirer analysis with a skeptical,</a:t>
            </a:r>
          </a:p>
          <a:p>
            <a:pPr>
              <a:spcBef>
                <a:spcPts val="600"/>
              </a:spcBef>
              <a:defRPr sz="1300" b="0">
                <a:solidFill>
                  <a:srgbClr val="8B8FA8"/>
                </a:solidFill>
              </a:defRPr>
            </a:pPr>
            <a:r>
              <a:t>risk-adjusted view of GigLift's current position and realistic exit scenarios.</a:t>
            </a:r>
          </a:p>
          <a:p>
            <a:pPr>
              <a:spcBef>
                <a:spcPts val="600"/>
              </a:spcBef>
              <a:defRPr sz="800" b="0">
                <a:solidFill>
                  <a:srgbClr val="8B8FA8"/>
                </a:solidFill>
              </a:defRPr>
            </a:pPr>
          </a:p>
          <a:p>
            <a:pPr>
              <a:spcBef>
                <a:spcPts val="600"/>
              </a:spcBef>
              <a:defRPr sz="1300" b="1">
                <a:solidFill>
                  <a:srgbClr val="FFC107"/>
                </a:solidFill>
              </a:defRPr>
            </a:pPr>
            <a:r>
              <a:t>Prepared for internal strategic planning — not investor-facing.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C63FF"/>
                </a:solidFill>
              </a:defRPr>
            </a:pPr>
            <a:r>
              <a:t>01  GigLift Asset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5029200" cy="502920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C63FF"/>
                </a:solidFill>
              </a:defRPr>
            </a:pPr>
            <a:r>
              <a:t>PRODUCT</a:t>
            </a:r>
          </a:p>
          <a:p>
            <a:pPr>
              <a:spcBef>
                <a:spcPts val="1200"/>
              </a:spcBef>
              <a:defRPr sz="1400" b="1">
                <a:solidFill>
                  <a:srgbClr val="FFFFFF"/>
                </a:solidFill>
              </a:defRPr>
            </a:pPr>
            <a:r>
              <a:t>  AI Agent Platform</a:t>
            </a:r>
          </a:p>
          <a:p>
            <a:pPr>
              <a:spcBef>
                <a:spcPts val="200"/>
              </a:spcBef>
              <a:defRPr sz="1200" b="0">
                <a:solidFill>
                  <a:srgbClr val="8B8FA8"/>
                </a:solidFill>
              </a:defRPr>
            </a:pPr>
            <a:r>
              <a:t>  AI-powered gig discovery, lead gen, outreach, EPK, social, analytics</a:t>
            </a:r>
          </a:p>
          <a:p>
            <a:pPr>
              <a:spcBef>
                <a:spcPts val="1200"/>
              </a:spcBef>
              <a:defRPr sz="1400" b="1">
                <a:solidFill>
                  <a:srgbClr val="FFFFFF"/>
                </a:solidFill>
              </a:defRPr>
            </a:pPr>
            <a:r>
              <a:t>  4 Modes</a:t>
            </a:r>
          </a:p>
          <a:p>
            <a:pPr>
              <a:spcBef>
                <a:spcPts val="200"/>
              </a:spcBef>
              <a:defRPr sz="1200" b="0">
                <a:solidFill>
                  <a:srgbClr val="8B8FA8"/>
                </a:solidFill>
              </a:defRPr>
            </a:pPr>
            <a:r>
              <a:t>  Performer · Instructor · Studio · Touring</a:t>
            </a:r>
          </a:p>
          <a:p>
            <a:pPr>
              <a:spcBef>
                <a:spcPts val="1200"/>
              </a:spcBef>
              <a:defRPr sz="1400" b="1">
                <a:solidFill>
                  <a:srgbClr val="FFFFFF"/>
                </a:solidFill>
              </a:defRPr>
            </a:pPr>
            <a:r>
              <a:t>  7 AI Agents</a:t>
            </a:r>
          </a:p>
          <a:p>
            <a:pPr>
              <a:spcBef>
                <a:spcPts val="200"/>
              </a:spcBef>
              <a:defRPr sz="1200" b="0">
                <a:solidFill>
                  <a:srgbClr val="8B8FA8"/>
                </a:solidFill>
              </a:defRPr>
            </a:pPr>
            <a:r>
              <a:t>  Lead finder, social hype, analytics, community, growth, investor, content</a:t>
            </a:r>
          </a:p>
          <a:p>
            <a:pPr>
              <a:spcBef>
                <a:spcPts val="1200"/>
              </a:spcBef>
              <a:defRPr sz="1400" b="1">
                <a:solidFill>
                  <a:srgbClr val="FFFFFF"/>
                </a:solidFill>
              </a:defRPr>
            </a:pPr>
            <a:r>
              <a:t>  Tech Stack</a:t>
            </a:r>
          </a:p>
          <a:p>
            <a:pPr>
              <a:spcBef>
                <a:spcPts val="200"/>
              </a:spcBef>
              <a:defRPr sz="1200" b="0">
                <a:solidFill>
                  <a:srgbClr val="8B8FA8"/>
                </a:solidFill>
              </a:defRPr>
            </a:pPr>
            <a:r>
              <a:t>  Next.js · Turso · Clerk · Stripe · Vercel</a:t>
            </a:r>
          </a:p>
          <a:p>
            <a:pPr>
              <a:spcBef>
                <a:spcPts val="1200"/>
              </a:spcBef>
              <a:defRPr sz="1400" b="1">
                <a:solidFill>
                  <a:srgbClr val="FFFFFF"/>
                </a:solidFill>
              </a:defRPr>
            </a:pPr>
            <a:r>
              <a:t>  Pricing</a:t>
            </a:r>
          </a:p>
          <a:p>
            <a:pPr>
              <a:spcBef>
                <a:spcPts val="200"/>
              </a:spcBef>
              <a:defRPr sz="1200" b="0">
                <a:solidFill>
                  <a:srgbClr val="8B8FA8"/>
                </a:solidFill>
              </a:defRPr>
            </a:pPr>
            <a:r>
              <a:t>  Free / Pro $33 / Unlimited $66 / Agency $125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097280"/>
            <a:ext cx="5212080" cy="502920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4D6A"/>
                </a:solidFill>
              </a:defRPr>
            </a:pPr>
            <a:r>
              <a:t>HONEST ASSESSMENT</a:t>
            </a:r>
          </a:p>
          <a:p>
            <a:pPr>
              <a:spcBef>
                <a:spcPts val="1200"/>
              </a:spcBef>
              <a:defRPr sz="1400" b="1">
                <a:solidFill>
                  <a:srgbClr val="FFFFFF"/>
                </a:solidFill>
              </a:defRPr>
            </a:pPr>
            <a:r>
              <a:t>  Revenue</a:t>
            </a:r>
          </a:p>
          <a:p>
            <a:pPr>
              <a:spcBef>
                <a:spcPts val="200"/>
              </a:spcBef>
              <a:defRPr sz="1200" b="0">
                <a:solidFill>
                  <a:srgbClr val="8B8FA8"/>
                </a:solidFill>
              </a:defRPr>
            </a:pPr>
            <a:r>
              <a:t>  Pre-revenue (no disclosed ARR)</a:t>
            </a:r>
          </a:p>
          <a:p>
            <a:pPr>
              <a:spcBef>
                <a:spcPts val="1200"/>
              </a:spcBef>
              <a:defRPr sz="1400" b="1">
                <a:solidFill>
                  <a:srgbClr val="FFFFFF"/>
                </a:solidFill>
              </a:defRPr>
            </a:pPr>
            <a:r>
              <a:t>  Users</a:t>
            </a:r>
          </a:p>
          <a:p>
            <a:pPr>
              <a:spcBef>
                <a:spcPts val="200"/>
              </a:spcBef>
              <a:defRPr sz="1200" b="0">
                <a:solidFill>
                  <a:srgbClr val="8B8FA8"/>
                </a:solidFill>
              </a:defRPr>
            </a:pPr>
            <a:r>
              <a:t>  Early stage — no published user count</a:t>
            </a:r>
          </a:p>
          <a:p>
            <a:pPr>
              <a:spcBef>
                <a:spcPts val="1200"/>
              </a:spcBef>
              <a:defRPr sz="1400" b="1">
                <a:solidFill>
                  <a:srgbClr val="FFFFFF"/>
                </a:solidFill>
              </a:defRPr>
            </a:pPr>
            <a:r>
              <a:t>  Retention</a:t>
            </a:r>
          </a:p>
          <a:p>
            <a:pPr>
              <a:spcBef>
                <a:spcPts val="200"/>
              </a:spcBef>
              <a:defRPr sz="1200" b="0">
                <a:solidFill>
                  <a:srgbClr val="8B8FA8"/>
                </a:solidFill>
              </a:defRPr>
            </a:pPr>
            <a:r>
              <a:t>  Unproven — no cohort data available</a:t>
            </a:r>
          </a:p>
          <a:p>
            <a:pPr>
              <a:spcBef>
                <a:spcPts val="1200"/>
              </a:spcBef>
              <a:defRPr sz="1400" b="1">
                <a:solidFill>
                  <a:srgbClr val="FFFFFF"/>
                </a:solidFill>
              </a:defRPr>
            </a:pPr>
            <a:r>
              <a:t>  Moat</a:t>
            </a:r>
          </a:p>
          <a:p>
            <a:pPr>
              <a:spcBef>
                <a:spcPts val="200"/>
              </a:spcBef>
              <a:defRPr sz="1200" b="0">
                <a:solidFill>
                  <a:srgbClr val="8B8FA8"/>
                </a:solidFill>
              </a:defRPr>
            </a:pPr>
            <a:r>
              <a:t>  Data + workflow integration, NOT proprietary AI models</a:t>
            </a:r>
          </a:p>
          <a:p>
            <a:pPr>
              <a:spcBef>
                <a:spcPts val="1200"/>
              </a:spcBef>
              <a:defRPr sz="1400" b="1">
                <a:solidFill>
                  <a:srgbClr val="FFFFFF"/>
                </a:solidFill>
              </a:defRPr>
            </a:pPr>
            <a:r>
              <a:t>  Defensibility</a:t>
            </a:r>
          </a:p>
          <a:p>
            <a:pPr>
              <a:spcBef>
                <a:spcPts val="200"/>
              </a:spcBef>
              <a:defRPr sz="1200" b="0">
                <a:solidFill>
                  <a:srgbClr val="8B8FA8"/>
                </a:solidFill>
              </a:defRPr>
            </a:pPr>
            <a:r>
              <a:t>  Agents are orchestration over OpenAI/Google APIs — rebuildable in 2-3 months</a:t>
            </a:r>
          </a:p>
          <a:p>
            <a:pPr>
              <a:spcBef>
                <a:spcPts val="1200"/>
              </a:spcBef>
              <a:defRPr sz="1400" b="1">
                <a:solidFill>
                  <a:srgbClr val="FFFFFF"/>
                </a:solidFill>
              </a:defRPr>
            </a:pPr>
            <a:r>
              <a:t>  Key Gap</a:t>
            </a:r>
          </a:p>
          <a:p>
            <a:pPr>
              <a:spcBef>
                <a:spcPts val="200"/>
              </a:spcBef>
              <a:defRPr sz="1200" b="0">
                <a:solidFill>
                  <a:srgbClr val="8B8FA8"/>
                </a:solidFill>
              </a:defRPr>
            </a:pPr>
            <a:r>
              <a:t>  No proof that leads → actual booked gigs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C63FF"/>
                </a:solidFill>
              </a:defRPr>
            </a:pPr>
            <a:r>
              <a:t>02  Market Reality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5029200" cy="210312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C107"/>
                </a:solidFill>
              </a:defRPr>
            </a:pPr>
            <a:r>
              <a:t>AS PRESENTED IN PITCH DECKS</a:t>
            </a:r>
          </a:p>
          <a:p>
            <a:pPr>
              <a:spcBef>
                <a:spcPts val="1200"/>
              </a:spcBef>
              <a:defRPr sz="1400" b="0">
                <a:solidFill>
                  <a:srgbClr val="FFFFFF"/>
                </a:solidFill>
              </a:defRPr>
            </a:pPr>
            <a:r>
              <a:t>  TAM: $47B (live bookings + music lessons)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  Target: 1,000 paid users Year 1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  MRR Goal: $15K by Month 12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  Conversion: 25-33% free → paid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097280"/>
            <a:ext cx="5212080" cy="210312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4D6A"/>
                </a:solidFill>
              </a:defRPr>
            </a:pPr>
            <a:r>
              <a:t>RISK-ADJUSTED REALITY</a:t>
            </a:r>
          </a:p>
          <a:p>
            <a:pPr>
              <a:spcBef>
                <a:spcPts val="1200"/>
              </a:spcBef>
              <a:defRPr sz="1400" b="0">
                <a:solidFill>
                  <a:srgbClr val="FFFFFF"/>
                </a:solidFill>
              </a:defRPr>
            </a:pPr>
            <a:r>
              <a:t>  SAM: $25-68M (indie musicians seeking venues)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  Realistic: 60 paid users Year 1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  MRR Likely: $1.5K by Month 12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  Conversion: 5-8% (industry benchmark)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474720"/>
            <a:ext cx="10698480" cy="274320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C63FF"/>
                </a:solidFill>
              </a:defRPr>
            </a:pPr>
            <a:r>
              <a:t>RISK-ADJUSTED FINANCIAL TRAJECTORY</a:t>
            </a:r>
          </a:p>
          <a:p>
            <a:pPr>
              <a:spcBef>
                <a:spcPts val="6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800"/>
              </a:spcBef>
              <a:defRPr sz="1100" b="1">
                <a:solidFill>
                  <a:srgbClr val="8B8FA8"/>
                </a:solidFill>
              </a:defRPr>
            </a:pPr>
            <a:r>
              <a:t>  Month     Free Users   Paid (Optimistic)   Paid (Realistic)   MRR (Optimistic)   MRR (Realistic)</a:t>
            </a:r>
          </a:p>
          <a:p>
            <a:pPr>
              <a:spcBef>
                <a:spcPts val="200"/>
              </a:spcBef>
              <a:defRPr sz="1000" b="0">
                <a:solidFill>
                  <a:srgbClr val="8B8FA8"/>
                </a:solidFill>
              </a:defRPr>
            </a:pPr>
            <a:r>
              <a:t>  ─────     ──────────   ─────────────────   ────────────────   ────────────────   ──────────────</a:t>
            </a:r>
          </a:p>
          <a:p>
            <a:pPr>
              <a:spcBef>
                <a:spcPts val="300"/>
              </a:spcBef>
              <a:defRPr sz="1100" b="0">
                <a:solidFill>
                  <a:srgbClr val="FFFFFF"/>
                </a:solidFill>
              </a:defRPr>
            </a:pPr>
            <a:r>
              <a:t>  M1          30            5  (17%)              1   (3%)            $125               $25</a:t>
            </a:r>
          </a:p>
          <a:p>
            <a:pPr>
              <a:spcBef>
                <a:spcPts val="300"/>
              </a:spcBef>
              <a:defRPr sz="1100" b="0">
                <a:solidFill>
                  <a:srgbClr val="FFFFFF"/>
                </a:solidFill>
              </a:defRPr>
            </a:pPr>
            <a:r>
              <a:t>  M3         100           30  (20%)              5   (5%)            $750              $125</a:t>
            </a:r>
          </a:p>
          <a:p>
            <a:pPr>
              <a:spcBef>
                <a:spcPts val="300"/>
              </a:spcBef>
              <a:defRPr sz="1100" b="0">
                <a:solidFill>
                  <a:srgbClr val="FFFFFF"/>
                </a:solidFill>
              </a:defRPr>
            </a:pPr>
            <a:r>
              <a:t>  M6         300          100  (20%)             18   (6%)          $2,500              $450</a:t>
            </a:r>
          </a:p>
          <a:p>
            <a:pPr>
              <a:spcBef>
                <a:spcPts val="300"/>
              </a:spcBef>
              <a:defRPr sz="1100" b="0">
                <a:solidFill>
                  <a:srgbClr val="FFFFFF"/>
                </a:solidFill>
              </a:defRPr>
            </a:pPr>
            <a:r>
              <a:t>  M9         500          250  (31%)             35   (7%)          $6,250              $875</a:t>
            </a:r>
          </a:p>
          <a:p>
            <a:pPr>
              <a:spcBef>
                <a:spcPts val="300"/>
              </a:spcBef>
              <a:defRPr sz="1100" b="0">
                <a:solidFill>
                  <a:srgbClr val="FFFFFF"/>
                </a:solidFill>
              </a:defRPr>
            </a:pPr>
            <a:r>
              <a:t>  M12        800          500  (33%)             60   (8%)         $12,500            $1,500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C63FF"/>
                </a:solidFill>
              </a:defRPr>
            </a:pPr>
            <a:r>
              <a:t>03  Top Strategic Acquirers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8FA8"/>
                </a:solidFill>
              </a:defRPr>
            </a:pPr>
            <a:r>
              <a:t>Ranked by strategic fit and realistic probability of acquisition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Spotify</a:t>
            </a:r>
          </a:p>
          <a:p>
            <a:pPr>
              <a:spcBef>
                <a:spcPts val="200"/>
              </a:spcBef>
              <a:defRPr sz="1100" b="0">
                <a:solidFill>
                  <a:srgbClr val="8B8FA8"/>
                </a:solidFill>
              </a:defRPr>
            </a:pPr>
            <a:r>
              <a:t>SPOT  ·  ~$100B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463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C63FF"/>
                </a:solidFill>
              </a:defRPr>
            </a:pPr>
            <a:r>
              <a:t>Thesis</a:t>
            </a:r>
          </a:p>
          <a:p>
            <a:pPr>
              <a:spcBef>
                <a:spcPts val="400"/>
              </a:spcBef>
              <a:defRPr sz="1200" b="0">
                <a:solidFill>
                  <a:srgbClr val="FFFFFF"/>
                </a:solidFill>
              </a:defRPr>
            </a:pPr>
            <a:r>
              <a:t>Powers 'Spotify for Gigs' artist booking</a:t>
            </a:r>
          </a:p>
          <a:p>
            <a:pPr>
              <a:spcBef>
                <a:spcPts val="400"/>
              </a:spcBef>
              <a:defRPr sz="1000" b="0">
                <a:solidFill>
                  <a:srgbClr val="8B8FA8"/>
                </a:solidFill>
              </a:defRPr>
            </a:pPr>
            <a:r>
              <a:t>Signal: Live Events (2024), WhoSampled (2025)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4630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4D6A"/>
                </a:solidFill>
              </a:defRPr>
            </a:pPr>
            <a:r>
              <a:t>Risk Check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🟡 Acqui-hire only at current stage; Spotify buys PhD AI teams, not SaaS products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017520"/>
            <a:ext cx="10698480" cy="146304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Bandsintown</a:t>
            </a:r>
          </a:p>
          <a:p>
            <a:pPr>
              <a:spcBef>
                <a:spcPts val="200"/>
              </a:spcBef>
              <a:defRPr sz="1100" b="0">
                <a:solidFill>
                  <a:srgbClr val="8B8FA8"/>
                </a:solidFill>
              </a:defRPr>
            </a:pPr>
            <a:r>
              <a:t>Private  ·  Est. $50-100M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108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C63FF"/>
                </a:solidFill>
              </a:defRPr>
            </a:pPr>
            <a:r>
              <a:t>Thesis</a:t>
            </a:r>
          </a:p>
          <a:p>
            <a:pPr>
              <a:spcBef>
                <a:spcPts val="400"/>
              </a:spcBef>
              <a:defRPr sz="1200" b="0">
                <a:solidFill>
                  <a:srgbClr val="FFFFFF"/>
                </a:solidFill>
              </a:defRPr>
            </a:pPr>
            <a:r>
              <a:t>Fills missing supply-side (artist booking tools)</a:t>
            </a:r>
          </a:p>
          <a:p>
            <a:pPr>
              <a:spcBef>
                <a:spcPts val="400"/>
              </a:spcBef>
              <a:defRPr sz="1000" b="0">
                <a:solidFill>
                  <a:srgbClr val="8B8FA8"/>
                </a:solidFill>
              </a:defRPr>
            </a:pPr>
            <a:r>
              <a:t>Signal: Hypebot/MusicThinkTank (2019)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10896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4D6A"/>
                </a:solidFill>
              </a:defRPr>
            </a:pPr>
            <a:r>
              <a:t>Risk Check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🟢 Best product fit — but may lack M&amp;A budget (ad-based business model)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10698480" cy="146304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75487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Eventbrite / Bending Spoons</a:t>
            </a:r>
          </a:p>
          <a:p>
            <a:pPr>
              <a:spcBef>
                <a:spcPts val="200"/>
              </a:spcBef>
              <a:defRPr sz="1100" b="0">
                <a:solidFill>
                  <a:srgbClr val="8B8FA8"/>
                </a:solidFill>
              </a:defRPr>
            </a:pPr>
            <a:r>
              <a:t>Private  ·  ~$500M (acq.)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75487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C63FF"/>
                </a:solidFill>
              </a:defRPr>
            </a:pPr>
            <a:r>
              <a:t>Thesis</a:t>
            </a:r>
          </a:p>
          <a:p>
            <a:pPr>
              <a:spcBef>
                <a:spcPts val="400"/>
              </a:spcBef>
              <a:defRPr sz="1200" b="0">
                <a:solidFill>
                  <a:srgbClr val="FFFFFF"/>
                </a:solidFill>
              </a:defRPr>
            </a:pPr>
            <a:r>
              <a:t>AI-powered artist acquisition channel</a:t>
            </a:r>
          </a:p>
          <a:p>
            <a:pPr>
              <a:spcBef>
                <a:spcPts val="400"/>
              </a:spcBef>
              <a:defRPr sz="1000" b="0">
                <a:solidFill>
                  <a:srgbClr val="8B8FA8"/>
                </a:solidFill>
              </a:defRPr>
            </a:pPr>
            <a:r>
              <a:t>Signal: Ticketfly $200M, ToneDen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79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4D6A"/>
                </a:solidFill>
              </a:defRPr>
            </a:pPr>
            <a:r>
              <a:t>Risk Check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🟡 Bending Spoons does cost-cutting, not bolt-on acquisitions historically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C63FF"/>
                </a:solidFill>
              </a:defRPr>
            </a:pPr>
            <a:r>
              <a:t>04  Full Acquirer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45720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C63FF"/>
                </a:solidFill>
              </a:defRPr>
            </a:pPr>
            <a:r>
              <a:t>  Company              Category           Deal Range      Probability    Key Risk</a:t>
            </a:r>
          </a:p>
          <a:p>
            <a:pPr>
              <a:spcBef>
                <a:spcPts val="6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800"/>
              </a:spcBef>
              <a:defRPr sz="1100" b="1">
                <a:solidFill>
                  <a:srgbClr val="6C63FF"/>
                </a:solidFill>
              </a:defRPr>
            </a:pPr>
            <a:r>
              <a:t>  TIER 1 — HIGHEST FIT</a:t>
            </a:r>
          </a:p>
          <a:p>
            <a:pPr>
              <a:spcBef>
                <a:spcPts val="300"/>
              </a:spcBef>
              <a:defRPr sz="1000" b="0">
                <a:solidFill>
                  <a:srgbClr val="8B8FA8"/>
                </a:solidFill>
              </a:defRPr>
            </a:pPr>
            <a:r>
              <a:t>  Spotify              Music Tech         $3–10M         Low           Buys AI research, not SaaS</a:t>
            </a:r>
          </a:p>
          <a:p>
            <a:pPr>
              <a:spcBef>
                <a:spcPts val="300"/>
              </a:spcBef>
              <a:defRPr sz="1000" b="0">
                <a:solidFill>
                  <a:srgbClr val="8B8FA8"/>
                </a:solidFill>
              </a:defRPr>
            </a:pPr>
            <a:r>
              <a:t>  Bandsintown          Live Music         $2–8M          Medium        Limited M&amp;A budget</a:t>
            </a:r>
          </a:p>
          <a:p>
            <a:pPr>
              <a:spcBef>
                <a:spcPts val="300"/>
              </a:spcBef>
              <a:defRPr sz="1000" b="0">
                <a:solidFill>
                  <a:srgbClr val="8B8FA8"/>
                </a:solidFill>
              </a:defRPr>
            </a:pPr>
            <a:r>
              <a:t>  Eventbrite/BS        Ticketing          $3–10M         Low           BS playbook is cost-cutting</a:t>
            </a:r>
          </a:p>
          <a:p>
            <a:pPr>
              <a:spcBef>
                <a:spcPts val="6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800"/>
              </a:spcBef>
              <a:defRPr sz="1100" b="1">
                <a:solidFill>
                  <a:srgbClr val="6C63FF"/>
                </a:solidFill>
              </a:defRPr>
            </a:pPr>
            <a:r>
              <a:t>  TIER 2 — STRONG FIT</a:t>
            </a:r>
          </a:p>
          <a:p>
            <a:pPr>
              <a:spcBef>
                <a:spcPts val="300"/>
              </a:spcBef>
              <a:defRPr sz="1000" b="0">
                <a:solidFill>
                  <a:srgbClr val="8B8FA8"/>
                </a:solidFill>
              </a:defRPr>
            </a:pPr>
            <a:r>
              <a:t>  HubSpot              CRM SaaS           $5–15M         Low           Needs $1M+ ARR first</a:t>
            </a:r>
          </a:p>
          <a:p>
            <a:pPr>
              <a:spcBef>
                <a:spcPts val="300"/>
              </a:spcBef>
              <a:defRPr sz="1000" b="0">
                <a:solidFill>
                  <a:srgbClr val="8B8FA8"/>
                </a:solidFill>
              </a:defRPr>
            </a:pPr>
            <a:r>
              <a:t>  Suno                 AI Music           $5–15M         Medium        Creation → performance gap</a:t>
            </a:r>
          </a:p>
          <a:p>
            <a:pPr>
              <a:spcBef>
                <a:spcPts val="300"/>
              </a:spcBef>
              <a:defRPr sz="1000" b="0">
                <a:solidFill>
                  <a:srgbClr val="8B8FA8"/>
                </a:solidFill>
              </a:defRPr>
            </a:pPr>
            <a:r>
              <a:t>  UMG/Virgin           Music Labels       $5–20M         Low           Corporate acquisition bar</a:t>
            </a:r>
          </a:p>
          <a:p>
            <a:pPr>
              <a:spcBef>
                <a:spcPts val="300"/>
              </a:spcBef>
              <a:defRPr sz="1000" b="0">
                <a:solidFill>
                  <a:srgbClr val="8B8FA8"/>
                </a:solidFill>
              </a:defRPr>
            </a:pPr>
            <a:r>
              <a:t>  DistroKid            Distribution       $3–10M         Medium        Natural extension, plausible</a:t>
            </a:r>
          </a:p>
          <a:p>
            <a:pPr>
              <a:spcBef>
                <a:spcPts val="300"/>
              </a:spcBef>
              <a:defRPr sz="1000" b="0">
                <a:solidFill>
                  <a:srgbClr val="8B8FA8"/>
                </a:solidFill>
              </a:defRPr>
            </a:pPr>
            <a:r>
              <a:t>  Linktree             Creator Economy    $3–8M          Low-Med       Not core to their roadmap</a:t>
            </a:r>
          </a:p>
          <a:p>
            <a:pPr>
              <a:spcBef>
                <a:spcPts val="6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800"/>
              </a:spcBef>
              <a:defRPr sz="1100" b="1">
                <a:solidFill>
                  <a:srgbClr val="00E676"/>
                </a:solidFill>
              </a:defRPr>
            </a:pPr>
            <a:r>
              <a:t>  TIER 3 — ACTUALLY PLAUSIBLE NOW</a:t>
            </a:r>
          </a:p>
          <a:p>
            <a:pPr>
              <a:spcBef>
                <a:spcPts val="300"/>
              </a:spcBef>
              <a:defRPr sz="1000" b="0">
                <a:solidFill>
                  <a:srgbClr val="8B8FA8"/>
                </a:solidFill>
              </a:defRPr>
            </a:pPr>
            <a:r>
              <a:t>  Sonicbids            Booking            $1–3M          High          Rebuilding — could acqui-hire</a:t>
            </a:r>
          </a:p>
          <a:p>
            <a:pPr>
              <a:spcBef>
                <a:spcPts val="300"/>
              </a:spcBef>
              <a:defRPr sz="1000" b="0">
                <a:solidFill>
                  <a:srgbClr val="8B8FA8"/>
                </a:solidFill>
              </a:defRPr>
            </a:pPr>
            <a:r>
              <a:t>  DistroKid            Distribution       $2–5M          Med-High      Bootstrapped; values efficiency</a:t>
            </a:r>
          </a:p>
          <a:p>
            <a:pPr>
              <a:spcBef>
                <a:spcPts val="300"/>
              </a:spcBef>
              <a:defRPr sz="1000" b="0">
                <a:solidFill>
                  <a:srgbClr val="8B8FA8"/>
                </a:solidFill>
              </a:defRPr>
            </a:pPr>
            <a:r>
              <a:t>  Bandsintown          Live Music         $1–4M          Medium        Partnership first → acquisition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C63FF"/>
                </a:solidFill>
              </a:defRPr>
            </a:pPr>
            <a:r>
              <a:t>05  Critical Risks for Any Exit Scenario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5029200" cy="502920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4D6A"/>
                </a:solidFill>
              </a:defRPr>
            </a:pPr>
            <a:r>
              <a:t>DEAL-KILLING RISKS</a:t>
            </a:r>
          </a:p>
          <a:p>
            <a:pPr>
              <a:spcBef>
                <a:spcPts val="1200"/>
              </a:spcBef>
              <a:defRPr sz="1300" b="1">
                <a:solidFill>
                  <a:srgbClr val="FF4D6A"/>
                </a:solidFill>
              </a:defRPr>
            </a:pPr>
            <a:r>
              <a:t>  🔴  No Proven Traction</a:t>
            </a:r>
          </a:p>
          <a:p>
            <a:pPr>
              <a:spcBef>
                <a:spcPts val="300"/>
              </a:spcBef>
              <a:defRPr sz="1100" b="0">
                <a:solidFill>
                  <a:srgbClr val="8B8FA8"/>
                </a:solidFill>
              </a:defRPr>
            </a:pPr>
            <a:r>
              <a:t>      Pre-revenue, no demonstrated PMF. Most acquirers won't engage below $500K ARR.</a:t>
            </a:r>
          </a:p>
          <a:p>
            <a:pPr>
              <a:spcBef>
                <a:spcPts val="1200"/>
              </a:spcBef>
              <a:defRPr sz="1300" b="1">
                <a:solidFill>
                  <a:srgbClr val="FF4D6A"/>
                </a:solidFill>
              </a:defRPr>
            </a:pPr>
            <a:r>
              <a:t>  🔴  Single Founder</a:t>
            </a:r>
          </a:p>
          <a:p>
            <a:pPr>
              <a:spcBef>
                <a:spcPts val="300"/>
              </a:spcBef>
              <a:defRPr sz="1100" b="0">
                <a:solidFill>
                  <a:srgbClr val="8B8FA8"/>
                </a:solidFill>
              </a:defRPr>
            </a:pPr>
            <a:r>
              <a:t>      No bus factor. If founder exits, product dies. Acquirers require team retention.</a:t>
            </a:r>
          </a:p>
          <a:p>
            <a:pPr>
              <a:spcBef>
                <a:spcPts val="1200"/>
              </a:spcBef>
              <a:defRPr sz="1300" b="1">
                <a:solidFill>
                  <a:srgbClr val="FF4D6A"/>
                </a:solidFill>
              </a:defRPr>
            </a:pPr>
            <a:r>
              <a:t>  🔴  Non-Defensible Tech</a:t>
            </a:r>
          </a:p>
          <a:p>
            <a:pPr>
              <a:spcBef>
                <a:spcPts val="300"/>
              </a:spcBef>
              <a:defRPr sz="1100" b="0">
                <a:solidFill>
                  <a:srgbClr val="8B8FA8"/>
                </a:solidFill>
              </a:defRPr>
            </a:pPr>
            <a:r>
              <a:t>      AI agents are orchestration over third-party APIs. Rebuildable in 2-3 months by any funded team.</a:t>
            </a:r>
          </a:p>
          <a:p>
            <a:pPr>
              <a:spcBef>
                <a:spcPts val="1200"/>
              </a:spcBef>
              <a:defRPr sz="1300" b="1">
                <a:solidFill>
                  <a:srgbClr val="FF4D6A"/>
                </a:solidFill>
              </a:defRPr>
            </a:pPr>
            <a:r>
              <a:t>  🔴  No Outcome Data</a:t>
            </a:r>
          </a:p>
          <a:p>
            <a:pPr>
              <a:spcBef>
                <a:spcPts val="300"/>
              </a:spcBef>
              <a:defRPr sz="1100" b="0">
                <a:solidFill>
                  <a:srgbClr val="8B8FA8"/>
                </a:solidFill>
              </a:defRPr>
            </a:pPr>
            <a:r>
              <a:t>      Can't prove leads → gigs. Without this, the core value proposition is theoretical.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097280"/>
            <a:ext cx="5212080" cy="502920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C107"/>
                </a:solidFill>
              </a:defRPr>
            </a:pPr>
            <a:r>
              <a:t>SIGNIFICANT RISKS</a:t>
            </a:r>
          </a:p>
          <a:p>
            <a:pPr>
              <a:spcBef>
                <a:spcPts val="1000"/>
              </a:spcBef>
              <a:defRPr sz="1300" b="1">
                <a:solidFill>
                  <a:srgbClr val="FFC107"/>
                </a:solidFill>
              </a:defRPr>
            </a:pPr>
            <a:r>
              <a:t>  🟡  No Mobile App</a:t>
            </a:r>
          </a:p>
          <a:p>
            <a:pPr>
              <a:spcBef>
                <a:spcPts val="300"/>
              </a:spcBef>
              <a:defRPr sz="1100" b="0">
                <a:solidFill>
                  <a:srgbClr val="8B8FA8"/>
                </a:solidFill>
              </a:defRPr>
            </a:pPr>
            <a:r>
              <a:t>      Musicians work on-the-go. Web-only misses primary use context.</a:t>
            </a:r>
          </a:p>
          <a:p>
            <a:pPr>
              <a:spcBef>
                <a:spcPts val="1000"/>
              </a:spcBef>
              <a:defRPr sz="1300" b="1">
                <a:solidFill>
                  <a:srgbClr val="FFC107"/>
                </a:solidFill>
              </a:defRPr>
            </a:pPr>
            <a:r>
              <a:t>  🟡  Meta API Dependency</a:t>
            </a:r>
          </a:p>
          <a:p>
            <a:pPr>
              <a:spcBef>
                <a:spcPts val="300"/>
              </a:spcBef>
              <a:defRPr sz="1100" b="0">
                <a:solidFill>
                  <a:srgbClr val="8B8FA8"/>
                </a:solidFill>
              </a:defRPr>
            </a:pPr>
            <a:r>
              <a:t>      Instagram agent relies on Meta Graph API — can break anytime.</a:t>
            </a:r>
          </a:p>
          <a:p>
            <a:pPr>
              <a:spcBef>
                <a:spcPts val="1000"/>
              </a:spcBef>
              <a:defRPr sz="1300" b="1">
                <a:solidFill>
                  <a:srgbClr val="FFC107"/>
                </a:solidFill>
              </a:defRPr>
            </a:pPr>
            <a:r>
              <a:t>  🟡  Web Scraping Legal</a:t>
            </a:r>
          </a:p>
          <a:p>
            <a:pPr>
              <a:spcBef>
                <a:spcPts val="300"/>
              </a:spcBef>
              <a:defRPr sz="1100" b="0">
                <a:solidFill>
                  <a:srgbClr val="8B8FA8"/>
                </a:solidFill>
              </a:defRPr>
            </a:pPr>
            <a:r>
              <a:t>      Venue enrichment may violate source site ToS at scale.</a:t>
            </a:r>
          </a:p>
          <a:p>
            <a:pPr>
              <a:spcBef>
                <a:spcPts val="1000"/>
              </a:spcBef>
              <a:defRPr sz="1300" b="1">
                <a:solidFill>
                  <a:srgbClr val="FFC107"/>
                </a:solidFill>
              </a:defRPr>
            </a:pPr>
            <a:r>
              <a:t>  🟡  LLM Cost Exposure</a:t>
            </a:r>
          </a:p>
          <a:p>
            <a:pPr>
              <a:spcBef>
                <a:spcPts val="300"/>
              </a:spcBef>
              <a:defRPr sz="1100" b="0">
                <a:solidFill>
                  <a:srgbClr val="8B8FA8"/>
                </a:solidFill>
              </a:defRPr>
            </a:pPr>
            <a:r>
              <a:t>      Est. $2-5/user/mo in API costs. At $33/mo pricing, margins thin.</a:t>
            </a:r>
          </a:p>
          <a:p>
            <a:pPr>
              <a:spcBef>
                <a:spcPts val="1000"/>
              </a:spcBef>
              <a:defRPr sz="1300" b="1">
                <a:solidFill>
                  <a:srgbClr val="FFC107"/>
                </a:solidFill>
              </a:defRPr>
            </a:pPr>
            <a:r>
              <a:t>  🟡  No Network Effects</a:t>
            </a:r>
          </a:p>
          <a:p>
            <a:pPr>
              <a:spcBef>
                <a:spcPts val="300"/>
              </a:spcBef>
              <a:defRPr sz="1100" b="0">
                <a:solidFill>
                  <a:srgbClr val="8B8FA8"/>
                </a:solidFill>
              </a:defRPr>
            </a:pPr>
            <a:r>
              <a:t>      Each user is isolated. Growth requires continuous paid acquisition.</a:t>
            </a:r>
          </a:p>
          <a:p>
            <a:pPr>
              <a:spcBef>
                <a:spcPts val="1000"/>
              </a:spcBef>
              <a:defRPr sz="1300" b="1">
                <a:solidFill>
                  <a:srgbClr val="FFC107"/>
                </a:solidFill>
              </a:defRPr>
            </a:pPr>
            <a:r>
              <a:t>  🟡  Inflated TAM</a:t>
            </a:r>
          </a:p>
          <a:p>
            <a:pPr>
              <a:spcBef>
                <a:spcPts val="300"/>
              </a:spcBef>
              <a:defRPr sz="1100" b="0">
                <a:solidFill>
                  <a:srgbClr val="8B8FA8"/>
                </a:solidFill>
              </a:defRPr>
            </a:pPr>
            <a:r>
              <a:t>      $47B claim includes arenas, orchestras, schools. Real SAM is $25-68M.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C63FF"/>
                </a:solidFill>
              </a:defRPr>
            </a:pPr>
            <a:r>
              <a:t>06  Valuation Reality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5029200" cy="228600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C107"/>
                </a:solidFill>
              </a:defRPr>
            </a:pPr>
            <a:r>
              <a:t>PITCH DECK VALUATION</a:t>
            </a:r>
          </a:p>
          <a:p>
            <a:pPr>
              <a:spcBef>
                <a:spcPts val="1200"/>
              </a:spcBef>
              <a:defRPr sz="1600" b="1">
                <a:solidFill>
                  <a:srgbClr val="FFFFFF"/>
                </a:solidFill>
              </a:defRPr>
            </a:pPr>
            <a:r>
              <a:t>  Pre-money: $5M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  Raise: $1M seed round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  Basis: "AI SaaS at 15-25x ARR"</a:t>
            </a:r>
          </a:p>
          <a:p>
            <a:pPr>
              <a:spcBef>
                <a:spcPts val="800"/>
              </a:spcBef>
              <a:defRPr sz="1200" b="0">
                <a:solidFill>
                  <a:srgbClr val="FFC107"/>
                </a:solidFill>
              </a:defRPr>
            </a:pPr>
            <a:r>
              <a:t>  Problem: Revenue is $0 — no ARR to multiply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097280"/>
            <a:ext cx="5212080" cy="228600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</a:defRPr>
            </a:pPr>
            <a:r>
              <a:t>REALISTIC VALUATION</a:t>
            </a:r>
          </a:p>
          <a:p>
            <a:pPr>
              <a:spcBef>
                <a:spcPts val="1200"/>
              </a:spcBef>
              <a:defRPr sz="1600" b="1">
                <a:solidFill>
                  <a:srgbClr val="FFFFFF"/>
                </a:solidFill>
              </a:defRPr>
            </a:pPr>
            <a:r>
              <a:t>  Pre-money: $1.5–2.5M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  Right-sized raise: $500–750K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</a:defRPr>
            </a:pPr>
            <a:r>
              <a:t>  Basis: Team + tech IP + market potential</a:t>
            </a:r>
          </a:p>
          <a:p>
            <a:pPr>
              <a:spcBef>
                <a:spcPts val="800"/>
              </a:spcBef>
              <a:defRPr sz="1200" b="0">
                <a:solidFill>
                  <a:srgbClr val="00E676"/>
                </a:solidFill>
              </a:defRPr>
            </a:pPr>
            <a:r>
              <a:t>  Acqui-hire: $500K–$2M (team × $300-500K/eng)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657600"/>
            <a:ext cx="10698480" cy="274320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C63FF"/>
                </a:solidFill>
              </a:defRPr>
            </a:pPr>
            <a:r>
              <a:t>MILESTONES THAT UNLOCK HIGHER VALUATION</a:t>
            </a:r>
          </a:p>
          <a:p>
            <a:pPr>
              <a:spcBef>
                <a:spcPts val="600"/>
              </a:spcBef>
              <a:defRPr sz="1200" b="0">
                <a:solidFill>
                  <a:srgbClr val="FFFFFF"/>
                </a:solidFill>
              </a:defRPr>
            </a:pPr>
            <a:r>
              <a:t>  ✦  $500K ARR  —  Unlocks serious acquisition conversations with mid-market buyers (DistroKid, Bandsintown)</a:t>
            </a:r>
          </a:p>
          <a:p>
            <a:pPr>
              <a:spcBef>
                <a:spcPts val="600"/>
              </a:spcBef>
              <a:defRPr sz="1200" b="0">
                <a:solidFill>
                  <a:srgbClr val="FFFFFF"/>
                </a:solidFill>
              </a:defRPr>
            </a:pPr>
            <a:r>
              <a:t>  ✦  10K+ Enriched Venues  —  Creates data moat — defensible asset that's expensive to rebuild</a:t>
            </a:r>
          </a:p>
          <a:p>
            <a:pPr>
              <a:spcBef>
                <a:spcPts val="600"/>
              </a:spcBef>
              <a:defRPr sz="1200" b="0">
                <a:solidFill>
                  <a:srgbClr val="FFFFFF"/>
                </a:solidFill>
              </a:defRPr>
            </a:pPr>
            <a:r>
              <a:t>  ✦  Outcome Proof  —  "X musicians booked Y gigs worth $Z" — transforms theoretical into proven</a:t>
            </a:r>
          </a:p>
          <a:p>
            <a:pPr>
              <a:spcBef>
                <a:spcPts val="600"/>
              </a:spcBef>
              <a:defRPr sz="1200" b="0">
                <a:solidFill>
                  <a:srgbClr val="FFFFFF"/>
                </a:solidFill>
              </a:defRPr>
            </a:pPr>
            <a:r>
              <a:t>  ✦  60%+ 90-Day Retention  —  Proves product-market fit — the single most important metric for acquirers</a:t>
            </a:r>
          </a:p>
          <a:p>
            <a:pPr>
              <a:spcBef>
                <a:spcPts val="600"/>
              </a:spcBef>
              <a:defRPr sz="1200" b="0">
                <a:solidFill>
                  <a:srgbClr val="FFFFFF"/>
                </a:solidFill>
              </a:defRPr>
            </a:pPr>
            <a:r>
              <a:t>  ✦  Strategic Partnership  —  LOI or integration with DistroKid/CD Baby creates warm acquisition path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C63FF"/>
                </a:solidFill>
              </a:defRPr>
            </a:pPr>
            <a:r>
              <a:t>07  Realistic Path to Acquisition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502920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C63FF"/>
                </a:solidFill>
              </a:defRPr>
            </a:pPr>
            <a:r>
              <a:t>18-MONTH ROADMAP TO ACQUIRABILITY</a:t>
            </a:r>
          </a:p>
          <a:p>
            <a:pPr>
              <a:spcBef>
                <a:spcPts val="6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defRPr sz="1400" b="1">
                <a:solidFill>
                  <a:srgbClr val="00E676"/>
                </a:solidFill>
              </a:defRPr>
            </a:pPr>
            <a:r>
              <a:t>  MONTHS 1-6: PROVE PMF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Build booking confirmation tracking ('I booked a gig from this lead')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Hit 60 paid users with &gt;60% 90-day retention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Grow enriched venue database to 5,000+ venues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Run 10-person ambassador pilot ($5K budget, not $70K)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Collect 20+ testimonials with specific gig/revenue outcomes</a:t>
            </a:r>
          </a:p>
          <a:p>
            <a:pPr>
              <a:spcBef>
                <a:spcPts val="6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defRPr sz="1400" b="1">
                <a:solidFill>
                  <a:srgbClr val="6C63FF"/>
                </a:solidFill>
              </a:defRPr>
            </a:pPr>
            <a:r>
              <a:t>  MONTHS 6-12: BUILD DATA MOAT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Scale to $500K ARR ($42K MRR) — this is the acquisition threshold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10K+ enriched venues with contact data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Publish case study: 'GigLift users booked X gigs worth $Y'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Explore distribution partnerships (DistroKid, CD Baby, TuneCore)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Build mobile PWA — this is table stakes for musician tools</a:t>
            </a:r>
          </a:p>
          <a:p>
            <a:pPr>
              <a:spcBef>
                <a:spcPts val="6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defRPr sz="1400" b="1">
                <a:solidFill>
                  <a:srgbClr val="FFC107"/>
                </a:solidFill>
              </a:defRPr>
            </a:pPr>
            <a:r>
              <a:t>  MONTHS 12-18: ACQUISITION POSITIONING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Initiate strategic conversations with Bandsintown, DistroKid, Sonicbids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Present at SXSW Music, Music Biz Conference, A2IM for corp dev visibility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If $1M+ ARR: expand target list to HubSpot, Suno, Linktree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Engage M&amp;A advisor if &gt;$3M ARR for competitive process</a:t>
            </a:r>
          </a:p>
          <a:p>
            <a:pPr>
              <a:spcBef>
                <a:spcPts val="400"/>
              </a:spcBef>
              <a:defRPr sz="1100" b="0">
                <a:solidFill>
                  <a:srgbClr val="8B8FA8"/>
                </a:solidFill>
              </a:defRPr>
            </a:pPr>
            <a:r>
              <a:t>    →  Target outcome: $3-10M strategic acquisition or Series A raise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2560320"/>
            <a:ext cx="9418320" cy="3200400"/>
          </a:xfrm>
          <a:prstGeom prst="rect">
            <a:avLst/>
          </a:prstGeom>
          <a:solidFill>
            <a:srgbClr val="1A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2651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</a:p>
          <a:p>
            <a:pPr>
              <a:spcBef>
                <a:spcPts val="800"/>
              </a:spcBef>
              <a:defRPr sz="1500" b="0">
                <a:solidFill>
                  <a:srgbClr val="FFFFFF"/>
                </a:solidFill>
              </a:defRPr>
            </a:pPr>
            <a:r>
              <a:t>GigLift has a real product solving a real problem in a large but niche market.</a:t>
            </a:r>
          </a:p>
          <a:p>
            <a:pPr>
              <a:spcBef>
                <a:spcPts val="6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The M&amp;A landscape is active — 19 music tech acquisitions in 2025 alone, with</a:t>
            </a:r>
          </a:p>
          <a:p>
            <a:pPr>
              <a:spcBef>
                <a:spcPts val="200"/>
              </a:spcBef>
              <a:defRPr sz="1500" b="0">
                <a:solidFill>
                  <a:srgbClr val="FFFFFF"/>
                </a:solidFill>
              </a:defRPr>
            </a:pPr>
            <a:r>
              <a:t>buyers actively seeking AI-powered tools for the creator economy.</a:t>
            </a:r>
          </a:p>
          <a:p>
            <a:pPr>
              <a:spcBef>
                <a:spcPts val="6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However, at pre-revenue, the realistic exit path requires 12-18 months of</a:t>
            </a:r>
          </a:p>
          <a:p>
            <a:pPr>
              <a:spcBef>
                <a:spcPts val="200"/>
              </a:spcBef>
              <a:defRPr sz="1500" b="0">
                <a:solidFill>
                  <a:srgbClr val="FFFFFF"/>
                </a:solidFill>
              </a:defRPr>
            </a:pPr>
            <a:r>
              <a:t>proving product-market fit before serious acquisition conversations begin.</a:t>
            </a:r>
          </a:p>
          <a:p>
            <a:pPr>
              <a:spcBef>
                <a:spcPts val="6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6C63FF"/>
                </a:solidFill>
              </a:defRPr>
            </a:pPr>
            <a:r>
              <a:t>Focus on outcomes, not AI buzzwords. Prove musicians book gigs.</a:t>
            </a:r>
          </a:p>
          <a:p>
            <a:pPr>
              <a:spcBef>
                <a:spcPts val="400"/>
              </a:spcBef>
              <a:defRPr sz="1600" b="1">
                <a:solidFill>
                  <a:srgbClr val="6C63FF"/>
                </a:solidFill>
              </a:defRPr>
            </a:pPr>
            <a:r>
              <a:t>Build the venue database. The data is the moat — the code is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8FA8"/>
                </a:solidFill>
              </a:defRPr>
            </a:pPr>
            <a:r>
              <a:t>Confidential — Internal Strategic Planning Document  · 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