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AB308"/>
                </a:solidFill>
                <a:latin typeface="Calibri"/>
              </a:defRPr>
            </a:pPr>
            <a:r>
              <a:t>🛡️ INTELLECTUAL PROPERTY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Trademark &amp; Patent</a:t>
            </a:r>
            <a:br/>
            <a: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696AA"/>
                </a:solidFill>
                <a:latin typeface="Calibri"/>
              </a:defRPr>
            </a:pPr>
            <a:r>
              <a:t>Cost Estimates  •  Implementation Plan  •  Risk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AA"/>
                </a:solidFill>
                <a:latin typeface="Calibri"/>
              </a:defRPr>
            </a:pPr>
            <a:r>
              <a:t>GigLift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Protecting GigLift's brand and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8C8DC"/>
                </a:solidFill>
                <a:latin typeface="Calibri"/>
              </a:defRPr>
            </a:pPr>
            <a:r>
              <a:t>"GigLift" is a coined, fanciful mark — the strongest category for trademark protection. Registration across 2 classes (software + SaaS) is affordable and should be pursued immediately. The multi-agent AI orchestration system is the strongest patent candidate, though post-Alice software patent eligibility requires careful claim drafting.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AB308"/>
                </a:solidFill>
                <a:latin typeface="Calibri"/>
              </a:defRPr>
            </a:pPr>
            <a:r>
              <a:t>$1.4–2.4K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696AA"/>
                </a:solidFill>
                <a:latin typeface="Calibri"/>
              </a:defRPr>
            </a:pPr>
            <a:r>
              <a:t>Trademark</a:t>
            </a:r>
            <a:br/>
            <a:r>
              <a:t>(2 Classes)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474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AB308"/>
                </a:solidFill>
                <a:latin typeface="Calibri"/>
              </a:defRPr>
            </a:pPr>
            <a:r>
              <a:t>$2.1–5.1K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114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696AA"/>
                </a:solidFill>
                <a:latin typeface="Calibri"/>
              </a:defRPr>
            </a:pPr>
            <a:r>
              <a:t>Provisional Patent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474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AB308"/>
                </a:solidFill>
                <a:latin typeface="Calibri"/>
              </a:defRPr>
            </a:pPr>
            <a:r>
              <a:t>5–8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114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696AA"/>
                </a:solidFill>
                <a:latin typeface="Calibri"/>
              </a:defRPr>
            </a:pPr>
            <a:r>
              <a:t>TM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474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AB308"/>
                </a:solidFill>
                <a:latin typeface="Calibri"/>
              </a:defRPr>
            </a:pPr>
            <a:r>
              <a:t>~$5–8K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4114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696AA"/>
                </a:solidFill>
                <a:latin typeface="Calibri"/>
              </a:defRPr>
            </a:pPr>
            <a:r>
              <a:t>Total Phase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Trademark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Two primary classes recommended for filing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32004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Class 9 —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Downloadable software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Mobile apps for event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AI-powered lead discovery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Social media content generators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USPTO fee: $350/class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029200" cy="32004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Class 42 — SaaS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Software-as-a-Service (cloud-based)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AI agent orchestration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Content planning &amp; publishing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Booking &amp; outreach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USPTO fee: $350/class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20640"/>
            <a:ext cx="5029200" cy="13716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696AA"/>
                </a:solidFill>
                <a:latin typeface="Calibri"/>
              </a:defRPr>
            </a:pPr>
            <a:r>
              <a:t>Optional: Class 41 — Education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Music education services (Instructor mode)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120640"/>
            <a:ext cx="5029200" cy="13716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696AA"/>
                </a:solidFill>
                <a:latin typeface="Calibri"/>
              </a:defRPr>
            </a:pPr>
            <a:r>
              <a:t>Optional: Class 35 — Business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Marketing services for venues/artists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Trademark Cost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Three filing options — 2 classes (Class 9 + Class 42)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474720" cy="475488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Option A: Self-Filing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USPTO base: 2 × $350 = $700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Attorney: 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Total: $700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⚠️ ~50% rejection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⚠️ Risk of weak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85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⚠️ Office actions costly to fix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645920"/>
            <a:ext cx="3474720" cy="475488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Option B: Online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Service fee: $500–$1,000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USPTO base: $700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Total: $1,200–$1,700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Basic professional 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Template-based filing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3685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⚠️ Limited strategic advice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18" y="1645920"/>
            <a:ext cx="3474720" cy="475488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8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Option C: Attorney 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8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Comprehensive search: $500–$1,500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8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Filing + prosecution: $500–$1,500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8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USPTO base: $700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8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Office actions: $150–$500 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8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Total: $1,850–$4,200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8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8" y="3685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Strongest protection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8" y="39410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Strategic claim drafting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Trademark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5–8 months from filing to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Week 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Clearance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645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Run TESS search + engage attorney for comprehensive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Week 2–3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76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File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1762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Submit in Classes 9 + 42 with pre-approved descriptions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066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Month 2–5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066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USPTO Examination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70662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Examiner reviews application, may issue Office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369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Month 5–6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369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Publication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23697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30-day opposition period in Official Gazette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67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Month 6–8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67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Registration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7673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Certificate issues — begin using ® symbol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696AA"/>
                </a:solidFill>
                <a:latin typeface="Calibri"/>
              </a:defRPr>
            </a:pPr>
            <a:r>
              <a:t>Year 5–6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Section 8 Filing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297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Declaration of continued use ($225/class)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28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696AA"/>
                </a:solidFill>
                <a:latin typeface="Calibri"/>
              </a:defRPr>
            </a:pPr>
            <a:r>
              <a:t>Year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828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Renewal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8280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Section 9 renewal ($300/class)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Patent Eligibility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Post-Alice test: abstract idea → inventive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474720" cy="41148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Multi-Agent AI Orchestration  ⭐⭐⭐⭐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7 agents, autonomous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Edge-SQLite cross-agent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Domain-specific prompt chains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Self-healing guardrails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645920"/>
            <a:ext cx="3474720" cy="41148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AI Lead Scoring Pipeline  ⭐⭐⭐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Seed→discover→enrich→dedup→score→QC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10+ source web scraping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Novel combination of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Risk: individual parts = prior 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8" y="1645920"/>
            <a:ext cx="3474720" cy="41148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8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Dual-Mode Platform  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Performer/Instructor modes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UI/UX feature, not a 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8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Not patentable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Key: ⭐⭐⭐⭐ = Strong candidate    ⭐⭐⭐ = Moderate    ⭐ = Weak / not patentable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Strongest Patent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Multi-Agent AI Orchestration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What Makes It Patentable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7 autonomous agents on independent schedules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Edge-SQLite orchestration across serverless infra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Domain-specific AI prompt engineering chains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Self-healing pipeline with guardrails &amp; rate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Novel architecture: discovery → score → outreach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  branding → social → success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Technical (not business method) framing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Risks &amp; Considerations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Post-Alice: could be seen as 'organizing human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  activity using generic computer components'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Must emphasize technical architecture in claims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Prior art in multi-agent AI systems (growing field)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Patent prosecution takes 2-3 years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Cost: $12K-$24K through grant (micro entity)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Maintenance fees: ~$5K over 20-year lifetime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Patent Cost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GigLift likely qualifies as micro entity (halved USPTO fees)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Provisional Patent (Rec'd First Step)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Secures priority date for 12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Attorney drafting: $2,000–$5,000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USPTO filing (micro): $65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Total: $2,065–$5,065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Low cost, buys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41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12 months to evaluate viability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Full Utility Patent (If Warranted)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20-year protection, enforceable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Attorney drafting: $8,000–$15,000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USPTO filing + search + exam: ~$825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Office action responses (2-3): $3K–$8K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Issue fee: $500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Total through grant: $12,325–$24,325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41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Maintenance (lifetime): ~$5,000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Significant IP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7171"/>
                </a:solidFill>
                <a:latin typeface="Calibri"/>
              </a:defRPr>
            </a:pPr>
            <a:r>
              <a:t>Key risks to consider before filing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3566160" cy="45720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⚠️ Trademark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Likelihood of confusion with existing marks containing 'Gig'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048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Potential opposition from brands in adjacent music/tech spaces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609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Common-law mark holders may challenge — not all marks in TESS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169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International protection requires separate filings per country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729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Failure to use mark within 3 years of registration = cancellation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645920"/>
            <a:ext cx="3566160" cy="45720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⚠️ Patent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Alice rejection: USPTO may classify as abstract business 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048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Growing prior art in multi-agent AI systems (Google, MSFT, etc.)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609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Patent prosecution costs can escalate with multiple Office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169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Competitors may design around claims with minor architectural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1729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Enforcement costs ($50K–$500K+) can exceed patent value for startups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429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Open-source components in stack may complicate claim scope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645920"/>
            <a:ext cx="3566160" cy="45720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696AA"/>
                </a:solidFill>
                <a:latin typeface="Calibri"/>
              </a:defRPr>
            </a:pPr>
            <a:r>
              <a:t>⚠️ Strategic Risks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IP spend diverts from product development and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4048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Patents may not deter well-funded acquirers or competitors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6609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Trade secret protection may be more cost-effective for some 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169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International filing costs scale significantly ($3K–$5K/country)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1729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Provisional patent burns 12-month clock — must commit or lose 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Recommended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From seed round 10% Legal &amp; Contingency ($100K allocation)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ITEM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COST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Trademark — attorney search + filing (2 classes)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94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$2,000–$3,000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1945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🟢 Immediate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Provisional patent — multi-agent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51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$3,000–$5,000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517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Calibri"/>
              </a:defRPr>
            </a:pPr>
            <a:r>
              <a:t>🟡 60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Domain portfolio (giglift.io, .co, .ai)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1089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1089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🟢 Immediate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Full utility patent (if provisional succeeds)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5661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$12,000–$24,000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566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  <a:latin typeface="Calibri"/>
              </a:defRPr>
            </a:pPr>
            <a:r>
              <a:t>🔴 Year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International trademark (EU, UK, AU)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$3,000–$5,000/region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023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  <a:latin typeface="Calibri"/>
              </a:defRPr>
            </a:pPr>
            <a:r>
              <a:t>🔴 Post-Series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  <a:latin typeface="Calibri"/>
              </a:defRPr>
            </a:pPr>
            <a:r>
              <a:t>TOTAL PHASE 1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  <a:latin typeface="Calibri"/>
              </a:defRPr>
            </a:pPr>
            <a:r>
              <a:t>$5,200–$8,200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Remaining legal contingency: $91,800–$94,800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Implementation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Prioritized steps for IP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DE8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Run TESS Trademark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Free — search USPTO database for 'GigLift' conflicts in Classes 9/42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DE8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Secure Domain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791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Register giglift.io, .co, .ai to prevent squatting (~$200)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723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723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Engage IP Attorney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924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Find an attorney specializing in software/SaaS trademarks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85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856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File Trademark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056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2 classes (9 + 42) with pre-approved ID Manual descriptions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98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98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Draft Provisional Patent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188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Focus on multi-agent orchestration architecture claims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Evaluate Full Utility Patent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532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After 6-12 months, assess commercial value and file if warranted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GigLift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AB308"/>
                </a:solidFill>
                <a:latin typeface="Calibri"/>
              </a:defRPr>
            </a:pPr>
            <a:r>
              <a:t>IP Strategy &amp; Protection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696AA"/>
                </a:solidFill>
                <a:latin typeface="Calibri"/>
              </a:defRPr>
            </a:pPr>
            <a:r>
              <a:t>Protect the brand. Secure the innovation.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AA"/>
                </a:solidFill>
                <a:latin typeface="Calibri"/>
              </a:defRPr>
            </a:pPr>
            <a:r>
              <a:t>This document is for planning purposes only and does not constitute legal advice.</a:t>
            </a:r>
            <a:br/>
            <a:r>
              <a:t>Consult a registered IP attorney before filing.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