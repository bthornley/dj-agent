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p_slide_bg_17726937448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AB308"/>
                </a:solidFill>
                <a:latin typeface="Calibri"/>
              </a:defRPr>
            </a:pPr>
            <a:r>
              <a:t>📊 YEAR 1 PROJECTED FINANCIAL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Revenue Projections, Costs</a:t>
            </a:r>
            <a:br/>
            <a:r>
              <a:t>&amp; Risk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696AA"/>
                </a:solidFill>
                <a:latin typeface="Calibri"/>
              </a:defRPr>
            </a:pPr>
            <a:r>
              <a:t>Month-by-Month Forecast  •  Q1–Q4 Breakdown  •  Break-Even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696AA"/>
                </a:solidFill>
                <a:latin typeface="Calibri"/>
              </a:defRPr>
            </a:pPr>
            <a:r>
              <a:t>GigLift  •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p_slide_bg_17726937448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AB308"/>
                </a:solidFill>
                <a:latin typeface="Calibri"/>
              </a:defRPr>
            </a:pPr>
            <a:r>
              <a:t>Four subscription tiers — freemium model with strong upgrade incentives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45920"/>
            <a:ext cx="2743200" cy="320040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C8DC"/>
                </a:solidFill>
                <a:latin typeface="Calibri"/>
              </a:defRPr>
            </a:pPr>
            <a:r>
              <a:t>🆓 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5 scans/month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04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25 lead 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609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1 region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169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Basic EPK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729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3 AI flyer backgrounds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8C8DC"/>
                </a:solidFill>
                <a:latin typeface="Calibri"/>
              </a:defRPr>
            </a:pPr>
            <a:r>
              <a:t>$0/mo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645920"/>
            <a:ext cx="2743200" cy="320040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783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⚡ Pro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148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50 auto-scans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404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Unlimited leads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6609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2 regions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9169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AI outreach (3 variants)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1729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Email send &amp; tracking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429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20 AI backgrounds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6850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CSV export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Calibri"/>
              </a:defRPr>
            </a:pPr>
            <a:r>
              <a:t>$33/mo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1645920"/>
            <a:ext cx="2743200" cy="320040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783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Calibri"/>
              </a:defRPr>
            </a:pPr>
            <a:r>
              <a:t>🚀 Unlimited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148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Unlimited everything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404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Priority lead scoring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6609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Full flyer suite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9169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Full Social Suite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1729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Analytics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429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Priority 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855F7"/>
                </a:solidFill>
                <a:latin typeface="Calibri"/>
              </a:defRPr>
            </a:pPr>
            <a:r>
              <a:t>$79/mo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06840" y="1645920"/>
            <a:ext cx="2743200" cy="320040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89720" y="1783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B308"/>
                </a:solidFill>
                <a:latin typeface="Calibri"/>
              </a:defRPr>
            </a:pPr>
            <a:r>
              <a:t>🏢 Agency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2148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5 artist profiles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2404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Everything in Unlimited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26609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Team 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29169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Bulk outreach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31729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White-label EPK &amp; flyers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3429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Dedicated account mgr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AB308"/>
                </a:solidFill>
                <a:latin typeface="Calibri"/>
              </a:defRPr>
            </a:pPr>
            <a:r>
              <a:t>$149/mo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577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💡 Blended average revenue per paying user: ~$52/mo based on projected 50% Pro, 35% Unlimited, 15% Agency mix.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p_slide_bg_17726937448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Year 1 Subscriber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AB308"/>
                </a:solidFill>
                <a:latin typeface="Calibri"/>
              </a:defRPr>
            </a:pPr>
            <a:r>
              <a:t>Conservative growth model — free-to-paid conversion rate: 8–12%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696AA"/>
                </a:solidFill>
                <a:latin typeface="Calibri"/>
              </a:defRPr>
            </a:pPr>
            <a:r>
              <a:t>QUARTER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696AA"/>
                </a:solidFill>
                <a:latin typeface="Calibri"/>
              </a:defRPr>
            </a:pPr>
            <a:r>
              <a:t>TOTAL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737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696AA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737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696AA"/>
                </a:solidFill>
                <a:latin typeface="Calibri"/>
              </a:defRPr>
            </a:pPr>
            <a:r>
              <a:t>PAID SUBS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696AA"/>
                </a:solidFill>
                <a:latin typeface="Calibri"/>
              </a:defRPr>
            </a:pPr>
            <a:r>
              <a:t>MRR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696AA"/>
                </a:solidFill>
                <a:latin typeface="Calibri"/>
              </a:defRPr>
            </a:pPr>
            <a:r>
              <a:t>CONVERSION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Q1 (Mar–May)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194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460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194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Calibri"/>
              </a:defRPr>
            </a:pPr>
            <a:r>
              <a:t>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$2,080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alibri"/>
              </a:defRPr>
            </a:pPr>
            <a:r>
              <a:t>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606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Q2 (Jun–Aug)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606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1,500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606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1,350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2606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Calibri"/>
              </a:defRPr>
            </a:pPr>
            <a:r>
              <a:t>150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2606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$7,800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606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alibri"/>
              </a:defRPr>
            </a:pPr>
            <a:r>
              <a:t>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017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Q3 (Sep–Nov)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3,500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017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3,080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3017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420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$21,840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alibri"/>
              </a:defRPr>
            </a:pPr>
            <a:r>
              <a:t>12%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429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Q4 (Dec–Feb)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6,000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3429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5,280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3429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720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$37,440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alibri"/>
              </a:defRPr>
            </a:pPr>
            <a:r>
              <a:t>12%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B308"/>
                </a:solidFill>
                <a:latin typeface="Calibri"/>
              </a:defRPr>
            </a:pPr>
            <a:r>
              <a:t>YEAR 1 TOTAL REVENUE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114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B308"/>
                </a:solidFill>
                <a:latin typeface="Calibri"/>
              </a:defRPr>
            </a:pPr>
            <a:r>
              <a:t>~$278,000 ARR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663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AA"/>
                </a:solidFill>
                <a:latin typeface="Calibri"/>
              </a:defRPr>
            </a:pPr>
            <a:r>
              <a:t>Assumptions: Blended ARPU $52/mo (50% Pro/$33, 35% Unlimited/$79, 15% Agency/$149). Monthly churn rate: 5%. Growth powered by ambassador program, SEO, and DJ community word-of-mouth.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p_slide_bg_17726937448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Month-by-Month Revenue — Q1 &amp; Q2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AB308"/>
                </a:solidFill>
                <a:latin typeface="Calibri"/>
              </a:defRPr>
            </a:pPr>
            <a:r>
              <a:t>First 6 months: building the base with aggressive free-tier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696AA"/>
                </a:solidFill>
                <a:latin typeface="Calibri"/>
              </a:defRPr>
            </a:pPr>
            <a:r>
              <a:t>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7373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696AA"/>
                </a:solidFill>
                <a:latin typeface="Calibri"/>
              </a:defRPr>
            </a:pPr>
            <a:r>
              <a:t>NEW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737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696AA"/>
                </a:solidFill>
                <a:latin typeface="Calibri"/>
              </a:defRPr>
            </a:pPr>
            <a:r>
              <a:t>TOTAL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7373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696AA"/>
                </a:solidFill>
                <a:latin typeface="Calibri"/>
              </a:defRPr>
            </a:pPr>
            <a:r>
              <a:t>PAID SUBS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696AA"/>
                </a:solidFill>
                <a:latin typeface="Calibri"/>
              </a:defRPr>
            </a:pPr>
            <a:r>
              <a:t>MRR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737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696AA"/>
                </a:solidFill>
                <a:latin typeface="Calibri"/>
              </a:defRPr>
            </a:pPr>
            <a:r>
              <a:t>CUM. REV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1945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194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1945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$208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194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B308"/>
                </a:solidFill>
                <a:latin typeface="Calibri"/>
              </a:defRPr>
            </a:pPr>
            <a:r>
              <a:t>$208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5786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Apr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5786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120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5786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170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25786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5786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$728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57860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B308"/>
                </a:solidFill>
                <a:latin typeface="Calibri"/>
              </a:defRPr>
            </a:pPr>
            <a:r>
              <a:t>$936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96265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296265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180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296265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350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296265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29626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$1,456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296265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B308"/>
                </a:solidFill>
                <a:latin typeface="Calibri"/>
              </a:defRPr>
            </a:pPr>
            <a:r>
              <a:t>$2,392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34670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Jun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334670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250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334670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600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334670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Calibri"/>
              </a:defRPr>
            </a:pPr>
            <a:r>
              <a:t>54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33467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$2,808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334670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B308"/>
                </a:solidFill>
                <a:latin typeface="Calibri"/>
              </a:defRPr>
            </a:pPr>
            <a:r>
              <a:t>$5,200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37307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Jul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40" y="37307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400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37307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1,000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7307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100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37307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$5,200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37307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B308"/>
                </a:solidFill>
                <a:latin typeface="Calibri"/>
              </a:defRPr>
            </a:pPr>
            <a:r>
              <a:t>$10,400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114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Aug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77440" y="4114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500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4114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1,500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4114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150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$7,800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4114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B308"/>
                </a:solidFill>
                <a:latin typeface="Calibri"/>
              </a:defRPr>
            </a:pPr>
            <a:r>
              <a:t>$18,200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47731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📈 Key milestone: Reach 100 paid subscribers by end of July (Month 5). DJ festival season (Jun–Aug) expected to accelerate signups.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p_slide_bg_17726937448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Month-by-Month Revenue — Q3 &amp; Q4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AB308"/>
                </a:solidFill>
                <a:latin typeface="Calibri"/>
              </a:defRPr>
            </a:pPr>
            <a:r>
              <a:t>Months 7–12: scaling toward profitability with ambassador-driven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696AA"/>
                </a:solidFill>
                <a:latin typeface="Calibri"/>
              </a:defRPr>
            </a:pPr>
            <a:r>
              <a:t>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7373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696AA"/>
                </a:solidFill>
                <a:latin typeface="Calibri"/>
              </a:defRPr>
            </a:pPr>
            <a:r>
              <a:t>NEW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737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696AA"/>
                </a:solidFill>
                <a:latin typeface="Calibri"/>
              </a:defRPr>
            </a:pPr>
            <a:r>
              <a:t>TOTAL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7373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696AA"/>
                </a:solidFill>
                <a:latin typeface="Calibri"/>
              </a:defRPr>
            </a:pPr>
            <a:r>
              <a:t>PAID SUBS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696AA"/>
                </a:solidFill>
                <a:latin typeface="Calibri"/>
              </a:defRPr>
            </a:pPr>
            <a:r>
              <a:t>MRR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737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696AA"/>
                </a:solidFill>
                <a:latin typeface="Calibri"/>
              </a:defRPr>
            </a:pPr>
            <a:r>
              <a:t>CUM. REV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1945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600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194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2,100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1945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252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$13,104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194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B308"/>
                </a:solidFill>
                <a:latin typeface="Calibri"/>
              </a:defRPr>
            </a:pPr>
            <a:r>
              <a:t>$31,304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5786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5786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650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5786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2,750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25786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330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5786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$17,160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57860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B308"/>
                </a:solidFill>
                <a:latin typeface="Calibri"/>
              </a:defRPr>
            </a:pPr>
            <a:r>
              <a:t>$48,464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96265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Nov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296265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750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296265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3,500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296265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420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29626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$21,840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296265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B308"/>
                </a:solidFill>
                <a:latin typeface="Calibri"/>
              </a:defRPr>
            </a:pPr>
            <a:r>
              <a:t>$70,304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34670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334670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700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334670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4,200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334670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504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33467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$26,208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334670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B308"/>
                </a:solidFill>
                <a:latin typeface="Calibri"/>
              </a:defRPr>
            </a:pPr>
            <a:r>
              <a:t>$96,512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37307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Jan '27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40" y="37307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800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37307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5,000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7307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600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37307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$31,200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37307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B308"/>
                </a:solidFill>
                <a:latin typeface="Calibri"/>
              </a:defRPr>
            </a:pPr>
            <a:r>
              <a:t>$127,712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114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Feb '27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77440" y="4114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1,000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4114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6,000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4114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720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$37,440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4114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B308"/>
                </a:solidFill>
                <a:latin typeface="Calibri"/>
              </a:defRPr>
            </a:pPr>
            <a:r>
              <a:t>$165,152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47731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🎯 Year 1 total cumulative revenue: ~$165K. MRR exits Year 1 at ~$37K/mo ($449K ARR run-rate).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p_slide_bg_17726937448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Infrastructure Costs — Year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AB308"/>
                </a:solidFill>
                <a:latin typeface="Calibri"/>
              </a:defRPr>
            </a:pPr>
            <a:r>
              <a:t>All third-party service costs by quarter — includes hosting, AI, payments, email,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696AA"/>
                </a:solidFill>
                <a:latin typeface="Calibri"/>
              </a:defRPr>
            </a:pPr>
            <a:r>
              <a:t>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7373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696AA"/>
                </a:solidFill>
                <a:latin typeface="Calibri"/>
              </a:defRPr>
            </a:pPr>
            <a: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696AA"/>
                </a:solidFill>
                <a:latin typeface="Calibri"/>
              </a:defRPr>
            </a:pPr>
            <a:r>
              <a:t>Q2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7373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696AA"/>
                </a:solidFill>
                <a:latin typeface="Calibri"/>
              </a:defRPr>
            </a:pPr>
            <a:r>
              <a:t>Q3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0" y="17373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696AA"/>
                </a:solidFill>
                <a:latin typeface="Calibri"/>
              </a:defRPr>
            </a:pPr>
            <a:r>
              <a:t>Q4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1737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696AA"/>
                </a:solidFill>
                <a:latin typeface="Calibri"/>
              </a:defRPr>
            </a:pPr>
            <a:r>
              <a:t>YEAR 1 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Vercel (Pro)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1945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$60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$60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1945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$60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21945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$75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194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$255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54203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Clerk (Auth)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5420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5420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420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25420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$60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5420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$60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88950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Turso (Database)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288950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88950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$87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288950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$87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288950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$87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288950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$261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23697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OpenAI API (7 agents)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323697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$30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323697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$90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323697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$200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0" y="323697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$350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323697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Calibri"/>
              </a:defRPr>
            </a:pPr>
            <a:r>
              <a:t>$670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35844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Resend (Email)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35844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35844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$60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35844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$60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0" y="35844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$60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358444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$180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3931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Stripe Fees (2.9%+30¢)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0" y="3931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$17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3931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$143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3931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$455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0" y="3931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$823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0" y="39319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$1,438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42793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Plausible (Analytics)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08960" y="42793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$27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42793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$27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42793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$57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80" y="42793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$57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20" y="427939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$168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462686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Domains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08960" y="462686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$9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0" y="462686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$9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35040" y="462686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$9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98080" y="462686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$9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61120" y="46268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$36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497433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Vercel Blob (Storage)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08960" y="497433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0" y="497433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35040" y="497433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$5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98080" y="497433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$10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61120" y="497433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$15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1520" y="54132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B308"/>
                </a:solidFill>
                <a:latin typeface="Calibri"/>
              </a:defRPr>
            </a:pPr>
            <a:r>
              <a:t>TOTAL INFRA COSTS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108960" y="54132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B308"/>
                </a:solidFill>
                <a:latin typeface="Calibri"/>
              </a:defRPr>
            </a:pPr>
            <a:r>
              <a:t>$143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0" y="54132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B308"/>
                </a:solidFill>
                <a:latin typeface="Calibri"/>
              </a:defRPr>
            </a:pPr>
            <a:r>
              <a:t>$476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35040" y="54132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B308"/>
                </a:solidFill>
                <a:latin typeface="Calibri"/>
              </a:defRPr>
            </a:pPr>
            <a:r>
              <a:t>$933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98080" y="54132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B308"/>
                </a:solidFill>
                <a:latin typeface="Calibri"/>
              </a:defRPr>
            </a:pPr>
            <a:r>
              <a:t>$1,531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61120" y="541324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B308"/>
                </a:solidFill>
                <a:latin typeface="Calibri"/>
              </a:defRPr>
            </a:pPr>
            <a:r>
              <a:t>$3,083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p_slide_bg_17726937448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One-Time &amp; Operating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AB308"/>
                </a:solidFill>
                <a:latin typeface="Calibri"/>
              </a:defRPr>
            </a:pPr>
            <a:r>
              <a:t>Non-recurring launch costs and ongoing operational expenses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💰 One-Time Launch Costs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Trademark registration (2 classes): $2,500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04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Provisional patent filing: $3,000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609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Legal (Terms of Service, Privacy): $1,500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169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Domain portfolio (extra TLDs): $100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729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Apple Developer Program: $99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Google Play Console: $25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685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1005840" y="39410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Brand / design refresh: $500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1970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Penetration testing (if needed Y1): $2,000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4531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1005840" y="4709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TOTAL ONE-TIME: ~$9,724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645920"/>
            <a:ext cx="5029200" cy="438912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783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📋 Ongoing Operating Costs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Founder salary / draw: $0 (reinvested Y1)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404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Contractor / freelance support: $0–3,000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6609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Accounting / bookkeeping: $150/mo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9169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Business insurance (E&amp;O): $100/mo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1729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Marketing / ads budget (Q3+): $500–2,000/mo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Community tools (Discord Nitro): $10/mo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685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492240" y="39410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TOTAL OPERATING (YEAR 1): ~$6,000–$24,000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1970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6492240" y="44531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NOTE: No full-time hires planned in Year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p_slide_bg_17726937448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Projected Profit &amp; Loss — Year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AB308"/>
                </a:solidFill>
                <a:latin typeface="Calibri"/>
              </a:defRPr>
            </a:pPr>
            <a:r>
              <a:t>Conservative scenario — $0 founder salary, reinvesting all profit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696AA"/>
                </a:solidFill>
                <a:latin typeface="Calibr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3474720" y="17373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696AA"/>
                </a:solidFill>
                <a:latin typeface="Calibri"/>
              </a:defRPr>
            </a:pPr>
            <a: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737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696AA"/>
                </a:solidFill>
                <a:latin typeface="Calibri"/>
              </a:defRPr>
            </a:pPr>
            <a:r>
              <a:t>Q2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696AA"/>
                </a:solidFill>
                <a:latin typeface="Calibri"/>
              </a:defRPr>
            </a:pPr>
            <a:r>
              <a:t>Q3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737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696AA"/>
                </a:solidFill>
                <a:latin typeface="Calibri"/>
              </a:defRPr>
            </a:pPr>
            <a:r>
              <a:t>Q4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696AA"/>
                </a:solidFill>
                <a:latin typeface="Calibri"/>
              </a:defRPr>
            </a:pPr>
            <a:r>
              <a:t>YEAR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031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$2,392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$15,808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$52,104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$94,848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$165,152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Infrastructure Costs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560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alibri"/>
              </a:defRPr>
            </a:pPr>
            <a:r>
              <a:t>($143)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560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alibri"/>
              </a:defRPr>
            </a:pPr>
            <a:r>
              <a:t>($476)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560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alibri"/>
              </a:defRPr>
            </a:pPr>
            <a:r>
              <a:t>($933)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560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alibri"/>
              </a:defRPr>
            </a:pPr>
            <a:r>
              <a:t>($1,531)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alibri"/>
              </a:defRPr>
            </a:pPr>
            <a:r>
              <a:t>($3,083)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9077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Stripe Processing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29077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alibri"/>
              </a:defRPr>
            </a:pPr>
            <a:r>
              <a:t>($17)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29077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alibri"/>
              </a:defRPr>
            </a:pPr>
            <a:r>
              <a:t>($143)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9077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alibri"/>
              </a:defRPr>
            </a:pPr>
            <a:r>
              <a:t>($455)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9077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alibri"/>
              </a:defRPr>
            </a:pPr>
            <a:r>
              <a:t>($823)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9077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alibri"/>
              </a:defRPr>
            </a:pPr>
            <a:r>
              <a:t>($1,438)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2552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One-Time Costs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325526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7171"/>
                </a:solidFill>
                <a:latin typeface="Calibri"/>
              </a:defRPr>
            </a:pPr>
            <a:r>
              <a:t>($9,724)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25526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7171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25526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7171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25526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7171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32552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7171"/>
                </a:solidFill>
                <a:latin typeface="Calibri"/>
              </a:defRPr>
            </a:pPr>
            <a:r>
              <a:t>($9,724)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36027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Operating Costs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60273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alibri"/>
              </a:defRPr>
            </a:pPr>
            <a:r>
              <a:t>($1,300)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360273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alibri"/>
              </a:defRPr>
            </a:pPr>
            <a:r>
              <a:t>($2,000)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360273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alibri"/>
              </a:defRPr>
            </a:pPr>
            <a:r>
              <a:t>($3,500)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0273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alibri"/>
              </a:defRPr>
            </a:pPr>
            <a:r>
              <a:t>($5,200)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0" y="36027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alibri"/>
              </a:defRPr>
            </a:pPr>
            <a:r>
              <a:t>($12,000)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0599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TOTAL COSTS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405993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Calibri"/>
              </a:defRPr>
            </a:pPr>
            <a:r>
              <a:t>($11,184)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7760" y="405993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Calibri"/>
              </a:defRPr>
            </a:pPr>
            <a:r>
              <a:t>($2,619)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405993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Calibri"/>
              </a:defRPr>
            </a:pPr>
            <a:r>
              <a:t>($4,888)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405993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Calibri"/>
              </a:defRPr>
            </a:pPr>
            <a:r>
              <a:t>($7,554)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0" y="40599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Calibri"/>
              </a:defRPr>
            </a:pPr>
            <a:r>
              <a:t>($26,245)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45171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NET INCOME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4720" y="451713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($8,792)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37760" y="451713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$13,189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451713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$47,216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451713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$87,294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75520" y="45171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$138,907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4864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NET MARGIN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74720" y="48646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37760" y="48646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Calibri"/>
              </a:defRPr>
            </a:pPr>
            <a:r>
              <a:t>83%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48646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Calibri"/>
              </a:defRPr>
            </a:pPr>
            <a:r>
              <a:t>91%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48646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Calibri"/>
              </a:defRPr>
            </a:pPr>
            <a:r>
              <a:t>92%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75520" y="48646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Calibri"/>
              </a:defRPr>
            </a:pPr>
            <a:r>
              <a:t>84%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p_slide_bg_17726937448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Break-Even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AB308"/>
                </a:solidFill>
                <a:latin typeface="Calibri"/>
              </a:defRPr>
            </a:pPr>
            <a:r>
              <a:t>When does GigLift become self-sustaining?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0" cy="347472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📉 Fixed Monthly Costs (at launch)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Vercel Pro: $20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04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Turso Scaler: $29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609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Resend Pro: $20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169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Plausible: $9–19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729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Accounting: $150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Insurance: $100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685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Domains: ~$3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9410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005840" y="41970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TOTAL FIXED: ~$331–341/mo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645920"/>
            <a:ext cx="5029200" cy="347472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🎯 Break-Even 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Blended ARPU: $52/mo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04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Variable cost per user (AI + Stripe): ~$4.50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6609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Contribution margin per sub: ~$47.50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9169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6492240" y="31729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Break-even subs: 341 ÷ 47.50 = ~8 paid subs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6492240" y="3685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EXPECTED BREAK-EVEN: Month 1 (March '26)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9410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6492240" y="41970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Note: Excludes one-time launch costs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4531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Full payback (incl. one-time): Month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394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💡 GigLift's cost structure is extremely lean. With near-zero marginal costs from the serverless architecture, break-even is achieved with just 8 paying subscribers. The one-time launch costs ($9.7K) are fully paid back by Month 4 from cumulative profits.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p_slide_bg_17726937448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Cash Flow Projection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AB308"/>
                </a:solidFill>
                <a:latin typeface="Calibri"/>
              </a:defRPr>
            </a:pPr>
            <a:r>
              <a:t>Monthly cash position assuming $0 starting capital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696AA"/>
                </a:solidFill>
                <a:latin typeface="Calibri"/>
              </a:defRPr>
            </a:pPr>
            <a:r>
              <a:t>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7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696AA"/>
                </a:solidFill>
                <a:latin typeface="Calibri"/>
              </a:defRPr>
            </a:pPr>
            <a:r>
              <a:t>CASH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696AA"/>
                </a:solidFill>
                <a:latin typeface="Calibri"/>
              </a:defRPr>
            </a:pPr>
            <a:r>
              <a:t>CASH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7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696AA"/>
                </a:solidFill>
                <a:latin typeface="Calibri"/>
              </a:defRPr>
            </a:pPr>
            <a:r>
              <a:t>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1737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696AA"/>
                </a:solidFill>
                <a:latin typeface="Calibri"/>
              </a:defRPr>
            </a:pPr>
            <a:r>
              <a:t>CASH BALANCE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194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alibri"/>
              </a:defRPr>
            </a:pPr>
            <a:r>
              <a:t>$208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194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7171"/>
                </a:solidFill>
                <a:latin typeface="Calibri"/>
              </a:defRPr>
            </a:pPr>
            <a:r>
              <a:t>($10,000)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194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Calibri"/>
              </a:defRPr>
            </a:pPr>
            <a:r>
              <a:t>($9,792)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194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Calibri"/>
              </a:defRPr>
            </a:pPr>
            <a:r>
              <a:t>($9,792)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5420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Apr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5420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alibri"/>
              </a:defRPr>
            </a:pPr>
            <a:r>
              <a:t>$728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5420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7171"/>
                </a:solidFill>
                <a:latin typeface="Calibri"/>
              </a:defRPr>
            </a:pPr>
            <a:r>
              <a:t>($500)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5420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Calibri"/>
              </a:defRPr>
            </a:pPr>
            <a:r>
              <a:t>$228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54203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Calibri"/>
              </a:defRPr>
            </a:pPr>
            <a:r>
              <a:t>($9,564)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8895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8895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alibri"/>
              </a:defRPr>
            </a:pPr>
            <a:r>
              <a:t>$1,456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8895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7171"/>
                </a:solidFill>
                <a:latin typeface="Calibri"/>
              </a:defRPr>
            </a:pPr>
            <a:r>
              <a:t>($550)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8895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Calibri"/>
              </a:defRPr>
            </a:pPr>
            <a:r>
              <a:t>$906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88950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Calibri"/>
              </a:defRPr>
            </a:pPr>
            <a:r>
              <a:t>($8,658)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2369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Jun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2369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alibri"/>
              </a:defRPr>
            </a:pPr>
            <a:r>
              <a:t>$2,808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32369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7171"/>
                </a:solidFill>
                <a:latin typeface="Calibri"/>
              </a:defRPr>
            </a:pPr>
            <a:r>
              <a:t>($600)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2369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$2,208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23697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($6,450)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584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Jul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3584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alibri"/>
              </a:defRPr>
            </a:pPr>
            <a:r>
              <a:t>$5,200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3584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7171"/>
                </a:solidFill>
                <a:latin typeface="Calibri"/>
              </a:defRPr>
            </a:pPr>
            <a:r>
              <a:t>($700)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3584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$4,500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35844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($1,950)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3931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Aug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3931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alibri"/>
              </a:defRPr>
            </a:pPr>
            <a:r>
              <a:t>$7,800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3931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7171"/>
                </a:solidFill>
                <a:latin typeface="Calibri"/>
              </a:defRPr>
            </a:pPr>
            <a:r>
              <a:t>($800)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3931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$7,000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3931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$5,050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2793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42793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alibri"/>
              </a:defRPr>
            </a:pPr>
            <a:r>
              <a:t>$13,104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42793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7171"/>
                </a:solidFill>
                <a:latin typeface="Calibri"/>
              </a:defRPr>
            </a:pPr>
            <a:r>
              <a:t>($1,100)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42793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$12,004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42793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$17,054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46268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0" y="46268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alibri"/>
              </a:defRPr>
            </a:pPr>
            <a:r>
              <a:t>$17,160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0" y="46268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7171"/>
                </a:solidFill>
                <a:latin typeface="Calibri"/>
              </a:defRPr>
            </a:pPr>
            <a:r>
              <a:t>($1,300)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0" y="46268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$15,860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78240" y="462686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$32,914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49743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Nov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0" y="49743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alibri"/>
              </a:defRPr>
            </a:pPr>
            <a:r>
              <a:t>$21,840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54880" y="49743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7171"/>
                </a:solidFill>
                <a:latin typeface="Calibri"/>
              </a:defRPr>
            </a:pPr>
            <a:r>
              <a:t>($1,500)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6560" y="49743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$20,340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78240" y="497433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$53,254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53218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0" y="53218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alibri"/>
              </a:defRPr>
            </a:pPr>
            <a:r>
              <a:t>$26,208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54880" y="53218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7171"/>
                </a:solidFill>
                <a:latin typeface="Calibri"/>
              </a:defRPr>
            </a:pPr>
            <a:r>
              <a:t>($1,700)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53218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$24,508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78240" y="532180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$77,762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5806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📌 Cash-positive by Month 6 (August). Maximum cash deficit: ~$9.8K in Month 1. Self-funded with &lt;$10K startup capital.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p_slide_bg_17726937448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Revenue Scenarios — Year 1 Exit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AB308"/>
                </a:solidFill>
                <a:latin typeface="Calibri"/>
              </a:defRPr>
            </a:pPr>
            <a:r>
              <a:t>Best case, base case, and worst case projections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474720" cy="457200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🥇 Best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8,000 total users by Month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048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15% conversion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609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1,200 paid subscribers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169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MRR: $62,400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729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ARR: ~$749K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Year 1 revenue: ~$260K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850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2960" y="394106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Driven by: viral ambassador program,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9709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strategic partnerships, festival season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79" y="1645920"/>
            <a:ext cx="3474720" cy="457200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📊 Base 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6,000 total users by Month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24048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12% conversion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1999" y="26609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720 paid subscribers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9" y="29169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MRR: $37,440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31729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ARR: ~$449K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3429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Year 1 revenue: ~$165K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999" y="36850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571999" y="394106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Driven by: organic growth, SEO,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1999" y="419709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word-of-mouth, ambassador program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18" y="1645920"/>
            <a:ext cx="3474720" cy="457200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8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Calibri"/>
              </a:defRPr>
            </a:pPr>
            <a:r>
              <a:t>⚠️ Worst Case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38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3,000 total users by Month 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38" y="24048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6% conversion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38" y="26609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180 paid subscribers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38" y="29169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MRR: $9,360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38" y="31729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ARR: ~$112K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38" y="3429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Year 1 revenue: ~$52K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38" y="36850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8321038" y="394106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Still cash-positive after Month 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38" y="419709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Pivot/adjust pricing if needed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p_slide_bg_17726937448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Financial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AB308"/>
                </a:solidFill>
                <a:latin typeface="Calibri"/>
              </a:defRPr>
            </a:pPr>
            <a:r>
              <a:t>Risk factors ranked by impact and likelihood — with mitigations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696AA"/>
                </a:solidFill>
                <a:latin typeface="Calibri"/>
              </a:defRPr>
            </a:pPr>
            <a:r>
              <a:t>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737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696AA"/>
                </a:solidFill>
                <a:latin typeface="Calibri"/>
              </a:defRPr>
            </a:pPr>
            <a:r>
              <a:t>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696AA"/>
                </a:solidFill>
                <a:latin typeface="Calibri"/>
              </a:defRPr>
            </a:pPr>
            <a:r>
              <a:t>LIKELIHOOD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373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696AA"/>
                </a:solidFill>
                <a:latin typeface="Calibri"/>
              </a:defRPr>
            </a:pPr>
            <a:r>
              <a:t>MITIGATION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Slow user acquisition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1945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194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94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Ambassador program, DJ community partnerships, content marketing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60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High churn rate (&gt;8%/mo)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560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560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560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Improve onboarding, engagement loops, feature value prop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926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OpenAI price increase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9260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926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9260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Switch to open-source models (Llama/Mistral) for 80% savings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2918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Turso scale jump ($29→$499)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291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3291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2918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Monitor usage, optimize queries, consider PlanetScale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657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Market saturation / competitors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6576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3657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6576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First-mover advantage, niche focus on DJs specifically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023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Stripe fee increases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023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4023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0233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Minor impact — pass through to pricing if needed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389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Vercel usage overage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4389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4389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3891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ISR/static generation, CDN caching, optimize API calls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754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Regulatory / compliance costs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4754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0" y="4754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47548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Budget $5K reserve for SOC 2 prep if needed in Y2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p_slide_bg_17726937448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Metrics to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AB308"/>
                </a:solidFill>
                <a:latin typeface="Calibri"/>
              </a:defRPr>
            </a:pPr>
            <a:r>
              <a:t>Financial KPIs and targets for Year 1 — tracked monthly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474720" cy="411480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💰 Revenue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MRR growth rate: &gt;20% MoM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048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ARPU: &gt;$50/mo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609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LTV: &gt;$500 (10+ month retention)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169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LTV/CAC ratio: &gt;3:1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729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Net revenue retention: &gt;100%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29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005840" y="36850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TARGET: $37K MRR by Month 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1645920"/>
            <a:ext cx="3474720" cy="411480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📈 Growth 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Free-to-paid conversion: &gt;10%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4048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Monthly churn rate: &lt;5%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6609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New signups/month: &gt;500 by 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9169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Activation rate (1st scan): &gt;60%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1729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Ambassador referrals: &gt;30% of signups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429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4754880" y="36850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TARGET: 6,000 users by Month 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645920"/>
            <a:ext cx="3474720" cy="411480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⚙️ Cost 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Infra cost as % of revenue: &lt;5%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4048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Cost per user: &lt;$1/mo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6609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OpenAI cost per agent run: &lt;$0.03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29169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CAC (customer acquisition): &lt;$25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1729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Gross margin: &gt;85%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429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8503920" y="36850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TARGET: Cash-positive by Month 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p_slide_bg_17726937448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Calibri"/>
              </a:defRPr>
            </a:pPr>
            <a:r>
              <a:t>GigLift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AB308"/>
                </a:solidFill>
                <a:latin typeface="Calibri"/>
              </a:defRPr>
            </a:pPr>
            <a:r>
              <a:t>Year 1 Financial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AB308"/>
                </a:solidFill>
                <a:latin typeface="Calibri"/>
              </a:defRPr>
            </a:pPr>
            <a:r>
              <a:t>$165K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696AA"/>
                </a:solidFill>
                <a:latin typeface="Calibri"/>
              </a:defRPr>
            </a:pPr>
            <a:r>
              <a:t>Year 1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34747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AB308"/>
                </a:solidFill>
                <a:latin typeface="Calibri"/>
              </a:defRPr>
            </a:pPr>
            <a:r>
              <a:t>$139K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696AA"/>
                </a:solidFill>
                <a:latin typeface="Calibri"/>
              </a:defRPr>
            </a:pPr>
            <a:r>
              <a:t>Net Income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4747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AB308"/>
                </a:solidFill>
                <a:latin typeface="Calibri"/>
              </a:defRPr>
            </a:pPr>
            <a:r>
              <a:t>84%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696AA"/>
                </a:solidFill>
                <a:latin typeface="Calibri"/>
              </a:defRPr>
            </a:pPr>
            <a:r>
              <a:t>Net Margin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34747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AB308"/>
                </a:solidFill>
                <a:latin typeface="Calibri"/>
              </a:defRPr>
            </a:pPr>
            <a:r>
              <a:t>Month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696AA"/>
                </a:solidFill>
                <a:latin typeface="Calibri"/>
              </a:defRPr>
            </a:pPr>
            <a:r>
              <a:t>Cash Positive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C"/>
                </a:solidFill>
                <a:latin typeface="Calibri"/>
              </a:defRPr>
            </a:pPr>
            <a:r>
              <a:t>Lean infrastructure • Serverless architecture • &lt;$10K startup capital • Self-funding by Month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AA"/>
                </a:solidFill>
                <a:latin typeface="Calibri"/>
              </a:defRPr>
            </a:pPr>
            <a:r>
              <a:t>All projections as of March 2026. Base case scenario.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F1E"/>
              </a:gs>
              <a:gs pos="100000">
                <a:srgbClr val="0C1E2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Management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D4BF"/>
                </a:solidFill>
                <a:latin typeface="Calibri"/>
              </a:defRPr>
            </a:pPr>
            <a:r>
              <a:t>Serial entrepreneur with a proven pattern of building, scaling, and exiting vertical SaaS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303520" cy="4846320"/>
          </a:xfrm>
          <a:prstGeom prst="rect">
            <a:avLst/>
          </a:prstGeom>
          <a:solidFill>
            <a:srgbClr val="1216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855F7"/>
                </a:solidFill>
                <a:latin typeface="Calibri"/>
              </a:defRPr>
            </a:pPr>
            <a:r>
              <a:t>BLAKE THORNLEY  —  FOUNDER &amp; 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25+ years building and scaling cloud-native SaaS platforms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128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Three-time co-founder with 3 successful exits via acquisition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5973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Led globally distributed engineering teams of 30+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066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99.99% uptime, reduced infrastructure costs by 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535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Deep expertise in cybersecurity &amp; SOC 2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00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2960" y="34472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Education: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9417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Stanford University — Software Security, Cryptography, Startup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9410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University of Redlands — Management Information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1879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22960" y="44348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Languages: English (native), Spanish (fluent), French (intermediate)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463040"/>
            <a:ext cx="5303520" cy="4846320"/>
          </a:xfrm>
          <a:prstGeom prst="rect">
            <a:avLst/>
          </a:prstGeom>
          <a:solidFill>
            <a:srgbClr val="1216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E80"/>
                </a:solidFill>
                <a:latin typeface="Calibri"/>
              </a:defRPr>
            </a:pPr>
            <a:r>
              <a:t>TRACK RECORD: 3 EXITS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9659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✅  D4 Sports, Inc.  (Co-Founder / VP Technology)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2128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  League management SaaS → founding team to 25 employees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45973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  $500K+ ARR → Acquired by Clubspaces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7066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492240" y="29535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✅  Clubspaces, Inc.  (VP, IT &amp; Architecture)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200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  30-person engineering dept, $1M+ revenue, 1M+ users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4472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  LA Galaxy &amp; DC United contracts → Acquired by Active Network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69417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6492240" y="39410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✅  Total Global Sports  (Co-Founder / CTO / Board)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1879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  99.99% uptime, 12 engineers, 50% AWS cost reduction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4348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  8-year run → Acquired by AthleteOne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6817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6492240" y="492861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Now applying the same playbook to music tech with GigLift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DD4B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6446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Calibri"/>
              </a:defRPr>
            </a:pPr>
            <a:r>
              <a:t>25+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6446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BBF24"/>
                </a:solidFill>
                <a:latin typeface="Calibri"/>
              </a:defRPr>
            </a:pPr>
            <a:r>
              <a:t>30+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6446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ADE80"/>
                </a:solidFill>
                <a:latin typeface="Calibri"/>
              </a:defRPr>
            </a:pPr>
            <a:r>
              <a:t>99.99%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6446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855F7"/>
                </a:solidFill>
                <a:latin typeface="Calibri"/>
              </a:defRPr>
            </a:pPr>
            <a:r>
              <a:t>$1M+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