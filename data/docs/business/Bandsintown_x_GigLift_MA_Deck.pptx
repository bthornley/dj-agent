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8193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BBF24"/>
                </a:solidFill>
                <a:latin typeface="Calibri"/>
              </a:defRPr>
            </a:pPr>
            <a:r>
              <a:t>CONFIDENTIAL — FOR DISCUSSION PURPOSES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Strategic Acquisition</a:t>
            </a:r>
            <a:br/>
            <a:r>
              <a:t>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DD4BF"/>
                </a:solidFill>
                <a:latin typeface="Calibri"/>
              </a:defRPr>
            </a:pPr>
            <a:r>
              <a:t>Bandsintown  ×  GigLift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C8DC"/>
                </a:solidFill>
                <a:latin typeface="Calibri"/>
              </a:defRPr>
            </a:pPr>
            <a:r>
              <a:t>Expanding the Live Music Ecosystem with AI-Powered Artist Growth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96AA"/>
                </a:solidFill>
                <a:latin typeface="Calibri"/>
              </a:defRPr>
            </a:pPr>
            <a:r>
              <a:t>Prepared by M&amp;A Advisory  •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AA"/>
                </a:solidFill>
                <a:latin typeface="Calibri"/>
              </a:defRPr>
            </a:pPr>
            <a:r>
              <a:t>This presentation contains proprietary information and is intended solely for authorized recipients.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Thesis: AI-powered growth tools for the long tail of live music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C"/>
                </a:solidFill>
                <a:latin typeface="Calibri"/>
              </a:defRPr>
            </a:pPr>
            <a:r>
              <a:t>GigLift is an AI-powered SaaS platform purpose-built for independent DJs and live performers, automating the end-to-end business of booking gigs: AI lead discovery, automated outreach, social media management, EPK generation, and event operations.</a:t>
            </a:r>
            <a:br/>
            <a:br/>
            <a:r>
              <a:t>Bandsintown, with 100 million registered users, 700,000 artists, and exclusive distribution partnerships with YouTube, Spotify, and Apple, is the undisputed leader in concert discovery. However, the platform currently stops at discovery — it does not help artists GET booked.</a:t>
            </a:r>
            <a:br/>
            <a:br/>
            <a:r>
              <a:t>Acquiring GigLift would extend Bandsintown from a discovery platform into a full-lifecycle artist growth engine, capturing revenue from the 95% of artists who need help filling their calendar.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DD4BF"/>
                </a:solidFill>
                <a:latin typeface="Calibri"/>
              </a:defRPr>
            </a:pPr>
            <a:r>
              <a:t>100M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AA"/>
                </a:solidFill>
                <a:latin typeface="Calibri"/>
              </a:defRPr>
            </a:pPr>
            <a:r>
              <a:t>BIT Users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754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DD4BF"/>
                </a:solidFill>
                <a:latin typeface="Calibri"/>
              </a:defRPr>
            </a:pPr>
            <a:r>
              <a:t>$4.7B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5303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AA"/>
                </a:solidFill>
                <a:latin typeface="Calibri"/>
              </a:defRPr>
            </a:pPr>
            <a:r>
              <a:t>GigLift 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754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DD4BF"/>
                </a:solidFill>
                <a:latin typeface="Calibri"/>
              </a:defRPr>
            </a:pPr>
            <a:r>
              <a:t>4–6× ARR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303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AA"/>
                </a:solidFill>
                <a:latin typeface="Calibri"/>
              </a:defRPr>
            </a:pPr>
            <a:r>
              <a:t>Revenue Multiple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4754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DD4B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5303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AA"/>
                </a:solidFill>
                <a:latin typeface="Calibri"/>
              </a:defRPr>
            </a:pPr>
            <a:r>
              <a:t>Synergy Unlock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Acquirer Profile: Bandsintown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The concert discovery platform powering the live music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D4BF"/>
                </a:solidFill>
                <a:latin typeface="Calibri"/>
              </a:defRPr>
            </a:pPr>
            <a:r>
              <a:t>COMPANY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Founded 2007 • HQ: New York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~$15M estimated annual revenue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$60.4M total funding raised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Profitable status (per PitchBook, post-2022)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100M registered users as of Oct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700,000+ registered artists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1.8M events published in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Revenue model: advertising, ticket commissions,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artist marketplace, data licensing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463040"/>
            <a:ext cx="53035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Calibri"/>
              </a:defRPr>
            </a:pPr>
            <a:r>
              <a:t>STRATEGIC PARTNERSHIPS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YouTube — exclusive concert listings provider (Aug 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Spotify — integrated concert discovery (Feb 2024)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Apple Music &amp; Shazam — preferred live data provider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Google — event data syndication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Amazon Music — merch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9224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Recent Moves: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AI assistant for concert discovery (2025)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Artist-controlled presales (Nov 2024)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Artist marketplace launch (Oct 2025)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Target Profile: GigLift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AI-powered artist growth platform — from lead to stage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747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Next.js 16 / React 19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Multi-agent AI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7 autonomous AI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Turso (LibSQL) + Clerk Auth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Stripe billing / Vercel deploy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Dual mode: Performer / Instructor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Built for indie DJs &amp; live artists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Mobile-responsive web 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463040"/>
            <a:ext cx="34747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AI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🔍 Lead Finder — venue/event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📡 Auto-Scanner — hands-free lead 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📧 DJ Agent — outreach &amp; follow-up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👥 Social Hype — content planning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📸 Instagram — auto-posting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💰 Cost Guardian — budget optimization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📊 Growth Ops — pipeline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457200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+ Customer Success &amp; Community agents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1463040"/>
            <a:ext cx="34747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Calibri"/>
              </a:defRPr>
            </a:pPr>
            <a:r>
              <a:t>ADDITIONAL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📋 EPK Builder — press kits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🎨 Flyer Creator — AI-powered design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📧 Email Templates — outreach templates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📅 Event Management — full lifecycle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🌐 SEO-optimized gig pages (/gigs/city)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🎓 Ambassador program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📊 Social analytics dashboard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832104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Subscription: Free / Pro / Enterprise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Strategic Rationale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Why Bandsintown should acquire GigLift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20116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D4BF"/>
                </a:solidFill>
                <a:latin typeface="Calibri"/>
              </a:defRPr>
            </a:pPr>
            <a:r>
              <a:t>1. COMPLETE THE ARTIST 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BIT helps fans discover concerts — but doesn't help artists GET booked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GigLift automates the entire upstream pipeline: discover → pitch → book → promote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Combined: the only platform from lead discovery to ticket sale to post-show analytics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303520" cy="20116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2. MONETIZE THE LONG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700K artists on BIT, most are independent with no booking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GigLift's SaaS pricing ($29-$149/mo) creates recurring revenue from this underserved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Even 5% conversion = 35K paying subscribers = $12M+ ARR uplift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303520" cy="20116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77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3. AI TECHNOLOGY LEAP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43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GigLift's 7-agent AI orchestration system is production-proven, not a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590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Addresses BIT's 2025 AI push — pre-built infra vs. building from scratch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837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Patent-eligible multi-agent architecture (provisional filing recommended)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840480"/>
            <a:ext cx="5303520" cy="20116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977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Calibri"/>
              </a:defRPr>
            </a:pPr>
            <a:r>
              <a:t>4. DATA NETWORK EFFECTS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BIT's 100M user concert data + GigLift's lead scoring = unmatched booking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590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Predictive analytics: which venues book which genres, seasonal demand, pricing optimization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837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Creates durable competitive moat that pure-play competitors can't replicate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Music tech SaaS and live music booking addressable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7472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D4BF"/>
                </a:solidFill>
                <a:latin typeface="Calibri"/>
              </a:defRPr>
            </a:pPr>
            <a:r>
              <a:t>TOTAL ADDRESSABLE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Global live music: $31.8B (2024)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Music production SaaS: $2.5B+ (2023)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Growing at 7% CAGR to $3.8B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Artist tools TAM: ~$4.7B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SaaS tools + booking + promotion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marketing + merch +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2M+ active independent artists in 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Growing with creator economy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1463040"/>
            <a:ext cx="347472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SERVICEABLE MARKET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700K artists already on Bandsintown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Est. 200K+ active monthly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457200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DJ-specific segment: 50K+ in 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Fastest-growing live segment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High SaaS willingness-to-pay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457200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Venue/promoter side: 250K+ venues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Both supply &amp; demand captured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1463040"/>
            <a:ext cx="347472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Giggster — venue rental (not booking)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Sonicbids — legacy, limited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ReverbNation — declining, acquired 2022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Indie on the Move — directory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832104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No competitor combines: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AI-powered lead discovery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Automated outreach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Social media management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18795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EPK + flyer creation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434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Full event lifecycle management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Revenue &amp; Cost Synergies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Projected impact of GigLift integration into Bandsintown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REVENUE SYNERGIES (YEAR 1–3)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🟢 SaaS Upsell to BIT Artist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700K artists × 5% conversion × $49 avg = $20.6M ARR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🟢 Booking Commission 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Completed bookings via GigLift → 10% commission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Est. 50K bookings/yr × $500 avg = $2.5M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🟢 Premium Lead Data Products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Venue analytics, demand forecasting for artists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New data product line: $3–5M ARR potential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22960" y="4681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🟢 Enhanced Advertising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286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Deeper artist engagement → higher CPM, targeted 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755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Est. 20–30% uplift on BIT ad revenue = $3–4.5M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463040"/>
            <a:ext cx="530352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Calibri"/>
              </a:defRPr>
            </a:pPr>
            <a:r>
              <a:t>COST SYNERGIES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🔵 Shared Infrastructure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GigLift on Vercel, BIT existing — consolidate compute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Est. $200–400K/yr savings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49224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🔵 Engineering Team Consolidation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AI/ML team shared across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Data pipeline reuse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9224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🔵 Distribution Leverage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Zero CAC for GigLift SaaS via BIT's 100M user 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Eliminate GigLift's standalone marketing budget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681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Current BIT → GigLift funnel costs: $0 (organic)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9286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6492240" y="51755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🔵 Combined Total Synergy: $28–33M by Year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Comparable Transactions &amp; Valuation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Recent music tech and SaaS M&amp;A 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Transaction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716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371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Multiple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371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Relevance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Blackstone → Hipgnosis (music rights)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8288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$2.6B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288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~18× rev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8288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Music asset M&amp;A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128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EQT → Believe (music distribution)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212848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2128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$2.3B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2128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~5× rev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2128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Distribution to artist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59689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SiriusXM → Pandora → AdsWizz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596896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5968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$150M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59689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~4× rev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59689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Audio tech roll-up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980944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LiveOne → CPS (live production)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2980944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298094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$116M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98094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~6× rev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980944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Live music SaaS tools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33649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Music Ally → Stern (advisory)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336499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3649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Undisclosed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36499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~5× ARR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3649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Music analytics/SaaS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74904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Median SaaS Private Exits (2024)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374904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7490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Varies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37490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4.1× ARR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374904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Industry benchmark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133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SaaS w/ NRR &gt;120% (2024)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0" y="4133088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41330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Varies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41330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11.7× ARR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33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Premium 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Music tech M&amp;A had a banner year in 2024 — PE financing value more than doubled. Early-stage music tech median valuations: $7–8M (source: Outpost Partners).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5303520"/>
            <a:ext cx="10515600" cy="10972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44068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AB308"/>
                </a:solidFill>
                <a:latin typeface="Calibri"/>
              </a:defRPr>
            </a:pPr>
            <a:r>
              <a:t>IMPLIED VALUATION RANGE — GIGLIFT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" y="5806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Conservative (4× ARR): Depends on current revenue — applicable at $500K+ ARR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" y="60533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Strategic Premium (6–8× ARR): Justified by BIT synergies, AI IP, and distribution leverage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630021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Comparable Early-Stage: $7–15M range for AI-native music SaaS with proven product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Combined Financial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Pro forma projections for Bandsintown + GigLift (Year 1–3)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D4B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D4BF"/>
                </a:solidFill>
                <a:latin typeface="Calibri"/>
              </a:defRPr>
            </a:pPr>
            <a:r>
              <a:t>Year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D4BF"/>
                </a:solidFill>
                <a:latin typeface="Calibri"/>
              </a:defRPr>
            </a:pPr>
            <a:r>
              <a:t>Year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D4BF"/>
                </a:solidFill>
                <a:latin typeface="Calibri"/>
              </a:defRPr>
            </a:pPr>
            <a:r>
              <a:t>Year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BIT Existing Revenue (est.)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8288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$15M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8288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$17M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8288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$20M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762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GigLift SaaS Revenue (upsell)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17627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$2.8M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17627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$8.5M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7627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$20.6M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Booking Commissions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2374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52374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$1.2M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52374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87121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Premium Data Products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87121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87121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287121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1868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Ad Revenue Uplift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2186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2186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2186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7033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COMBINED REVENUE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7033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$20.3M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7033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$30.7M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7033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$51.6M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18795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8BDF8"/>
                </a:solidFill>
                <a:latin typeface="Calibri"/>
              </a:defRPr>
            </a:pPr>
            <a:r>
              <a:t>Cost Synergies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187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8BDF8"/>
                </a:solidFill>
                <a:latin typeface="Calibri"/>
              </a:defRPr>
            </a:pPr>
            <a:r>
              <a:t>$0.2M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187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8BDF8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4187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8BDF8"/>
                </a:solidFill>
                <a:latin typeface="Calibri"/>
              </a:defRPr>
            </a:pPr>
            <a:r>
              <a:t>$0.8M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53542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Net New Revenue (GigLift)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45354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$5.3M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5354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$13.7M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45354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$31.6M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88289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Revenue CAGR (Combined)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48828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48828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51%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8828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68%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696AA"/>
                </a:solidFill>
                <a:latin typeface="Calibri"/>
              </a:defRPr>
            </a:pPr>
            <a:r>
              <a:t>Projections assume 5% artist conversion rate (Year 3), $49 avg monthly subscription, and conservative ramp. Excludes additional products (API licensing, white-label).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Proposed Transaction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Two pathways aligned to strategic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D4BF"/>
                </a:solidFill>
                <a:latin typeface="Calibri"/>
              </a:defRPr>
            </a:pPr>
            <a:r>
              <a:t>OPTION A: FULL ACQUISITION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Structure: 100% equity purchase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Consideration: $8–15M (cash + earnout)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Cash at close: 60–70%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Earnout (18 mo): 30–40% tied to milestones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User adoption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Revenue integration goals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Technology migration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Founder retention: 2-year employment agreement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Team: Full integration into BIT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81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22960" y="49286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Full control, fastest 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755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Complete IP ownership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4223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⚠️ Higher upfront capital requirement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463040"/>
            <a:ext cx="5303520" cy="47548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OPTION B: STRATEGIC INVESTMENT + OPTION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Structure: Minority stake (20–30%) + acquisition option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Investment: $2–4M for 25% equity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49224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Includes: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Board observer seat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Exclusive integration partnership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Right of first refusal on full acquisition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Option to purchase at pre-agreed multiple (5× ARR)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9224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Option exercise window: 18–36 months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Revenue share during option period: 15% on BIT-referred subs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681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6492240" y="49286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Lower risk, test-before-buy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1755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GigLift maintains growth independence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54223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⚠️ Risk of competitor pre-emption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Integration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90-day, 6-month, and 12-month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56616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D4BF"/>
                </a:solidFill>
                <a:latin typeface="Calibri"/>
              </a:defRPr>
            </a:pPr>
            <a:r>
              <a:t>PHASE 1: 0–90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Deep-link GigLift from BIT Artist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SSO integration (Clerk → BIT OAuth)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BIT concert data feed → GigLift lead enrichment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Joint press release + artist onboarding campaign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Technical due diligence + architecture review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63040"/>
            <a:ext cx="356616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PHASE 2: 90–180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Unified artist profile (BIT + GigLift data)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BIT event data → GigLift auto-scanner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In-app upsell: 'Powered by GigLift' booking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Shared analytics dashboard for artists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API layer for cross-platform data sync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463040"/>
            <a:ext cx="356616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PHASE 3: 6–12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Full platform merge: GigLift as 'BIT for Artists Pro'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AI-powered 'suggested gigs' using BIT demand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Automated venue-artist matching algorithm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Premium data products launch (venue analytics)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International expansion (EU, UK, AU markets)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Risk Analysis &amp; Mitigants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Key transaction risks and proposed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566160" cy="47548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Calibri"/>
              </a:defRPr>
            </a:pPr>
            <a:r>
              <a:t>INTEGRATION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Technology stack compatibility (Next.js + BIT)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API-first architecture, gradual 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Culture fit: startup speed vs. established company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Founder retention agreement, autonomous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Data privacy (user data across platforms)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941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GDPR/CCPA compliant architecture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1463040"/>
            <a:ext cx="3566160" cy="47548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Calibri"/>
              </a:defRPr>
            </a:pPr>
            <a:r>
              <a:t>MARKET RISKS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Competitor response (Spotify, YouTube building own tools)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12–18 mo head start, AI IP moat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48056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Artist willingness to pay for SaaS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Freemium model de-risks adoption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2004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4480560" y="34472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Economic downturn impact on live music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6941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Live music resilient; grew through 2023–24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463040"/>
            <a:ext cx="3566160" cy="47548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696AA"/>
                </a:solidFill>
                <a:latin typeface="Calibri"/>
              </a:defRPr>
            </a:pPr>
            <a:r>
              <a:t>FINANCIAL 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Overpayment vs. realized synergies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Earnout structure ties value to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832104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Revenue ramp slower than projected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Conservative base case = 2% conversion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2004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8321040" y="34472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Hidden tech debt requiring rebuild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6941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Clean TS build, zero errors, active codebase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Why Now?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Market timing and competitive dynamics favor immediate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D4BF"/>
                </a:solidFill>
                <a:latin typeface="Calibri"/>
              </a:defRPr>
            </a:pPr>
            <a:r>
              <a:t>Oct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BIT hits 100M users + launches artist marketplace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Platform maturity → ready for premium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D4BF"/>
                </a:solidFill>
                <a:latin typeface="Calibri"/>
              </a:defRPr>
            </a:pPr>
            <a:r>
              <a:t>Aug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965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BIT becomes exclusive YouTube concert 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965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Distribution dominance creates upsell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2024–25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Music tech M&amp;A boom — PE deal value doubles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468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Favorable market conditions for tech acquisitions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71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971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AI tools adoption accelerating across creative industries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71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AI-native platforms command 2× premium vs. legacy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74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74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GigLift: production-ready, zero tech debt, growing user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474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Acquisition at early-stage pricing before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77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Calibri"/>
              </a:defRPr>
            </a:pPr>
            <a:r>
              <a:t>2026+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977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Competitor risk: Spotify/YouTube build or acquire similar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977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Window narrows — first-mover advantage is time-limited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C8DC"/>
                </a:solidFill>
                <a:latin typeface="Calibri"/>
              </a:defRPr>
            </a:pPr>
            <a:r>
              <a:t>Bottom line: Bandsintown's platform reach + GigLift's AI booking tools = the first end-to-end artist growth engine in music tech. Waiting 12–18 months risks a competitor acquiring similar capabilities or GigLift scaling to a higher valuation.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Proposed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Path to term sheet within 60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D4B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481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Management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Founder meeting — product demo, vision alignment, culture assessment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214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D4B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3969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Technical Due Diligence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45973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Codebase review, architecture assessment, IP audit (2 weeks)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DE8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7980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Data Room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18104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Financials, user metrics, contracts, customer pipeline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381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DE8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564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Synergy Modeling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77647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Joint workshop: integration architecture, revenue modeling, cost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965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BBF24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114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Term Sheet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434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Non-binding LOI with proposed structure, valuation, and earnout terms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855F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7731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Definitive Agreement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09320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Negotiate PA, employment agreements, IP assignment, closing conditions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AB308"/>
                </a:solidFill>
                <a:latin typeface="Calibri"/>
              </a:defRPr>
            </a:pPr>
            <a:r>
              <a:t>Target timeline: LOI by end of Q2 2026 • Closing by Q3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8193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FFFFFF"/>
                </a:solidFill>
                <a:latin typeface="Calibri"/>
              </a:defRPr>
            </a:pPr>
            <a:r>
              <a:t>Bandsintown × GigLift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2DD4BF"/>
                </a:solidFill>
                <a:latin typeface="Calibri"/>
              </a:defRPr>
            </a:pPr>
            <a:r>
              <a:t>From Discovery to Booking.</a:t>
            </a:r>
            <a:br/>
            <a:r>
              <a:t>The Complete Artist Growth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C8DC"/>
                </a:solidFill>
                <a:latin typeface="Calibri"/>
              </a:defRPr>
            </a:pPr>
            <a:r>
              <a:t>100M fans • 700K artists • AI-powered booking • One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  <a:latin typeface="Calibri"/>
              </a:defRPr>
            </a:pPr>
            <a:r>
              <a:t>CONFIDENTIAL — FOR DISCUSSION PURPOSES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AA"/>
                </a:solidFill>
                <a:latin typeface="Calibri"/>
              </a:defRPr>
            </a:pPr>
            <a:r>
              <a:t>This document does not constitute an offer to sell or a solicitation to buy securities.</a:t>
            </a:r>
            <a:br/>
            <a:r>
              <a:t>All projections are estimates based on publicly available information and internal analysis.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Management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Serial entrepreneur with a proven pattern of building, scaling, and exiting vertical SaaS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BLAKE THORNLEY  —  FOUNDER &amp; 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25+ years building and scaling cloud-native SaaS platforms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Three-time co-founder with 3 successful exits via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Led globally distributed engineering teams of 30+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99.99% uptime, reduced infrastructure costs by 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Deep expertise in cybersecurity &amp; SOC 2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Education: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Stanford University — Software Security, Cryptography, Startup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University of Redlands — Management Information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Languages: English (native), Spanish (fluent), French (intermediate)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463040"/>
            <a:ext cx="53035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TRACK RECORD: 3 EXITS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 D4 Sports, Inc.  (Co-Founder / VP Technology)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League management SaaS → founding team to 25 employees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$500K+ ARR → Acquired by Clubspaces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 Clubspaces, Inc.  (VP, IT &amp; Architecture)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30-person engineering dept, $1M+ revenue, 1M+ users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LA Galaxy &amp; DC United contracts → Acquired by Active Network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9224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 Total Global Sports  (Co-Founder / CTO / Board)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99.99% uptime, 12 engineers, 50% AWS cost reduction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8-year run → Acquired by AthleteOne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681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92240" y="49286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Now applying the same playbook to music tech with GigLift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DD4B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6446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8BDF8"/>
                </a:solidFill>
                <a:latin typeface="Calibri"/>
              </a:defRPr>
            </a:pPr>
            <a:r>
              <a:t>25+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6446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BBF24"/>
                </a:solidFill>
                <a:latin typeface="Calibri"/>
              </a:defRPr>
            </a:pPr>
            <a:r>
              <a:t>30+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6446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ADE80"/>
                </a:solidFill>
                <a:latin typeface="Calibri"/>
              </a:defRPr>
            </a:pPr>
            <a:r>
              <a:t>99.99%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A855F7"/>
                </a:solidFill>
                <a:latin typeface="Calibri"/>
              </a:defRPr>
            </a:pPr>
            <a:r>
              <a:t>$1M+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